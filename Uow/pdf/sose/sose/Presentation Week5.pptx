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256" r:id="rId2"/>
    <p:sldId id="287" r:id="rId3"/>
    <p:sldId id="304" r:id="rId4"/>
    <p:sldId id="325" r:id="rId5"/>
    <p:sldId id="326" r:id="rId6"/>
    <p:sldId id="289" r:id="rId7"/>
    <p:sldId id="305" r:id="rId8"/>
    <p:sldId id="327" r:id="rId9"/>
    <p:sldId id="280" r:id="rId10"/>
    <p:sldId id="267"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1B56"/>
    <a:srgbClr val="553058"/>
    <a:srgbClr val="A02A7D"/>
    <a:srgbClr val="362A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xun Huang" userId="5c4f4171-79f0-4b87-aa1d-c097d9ee5a38" providerId="ADAL" clId="{E5954A57-0DDC-40FB-9BAD-C21976F4771A}"/>
    <pc:docChg chg="delSld">
      <pc:chgData name="Shixun Huang" userId="5c4f4171-79f0-4b87-aa1d-c097d9ee5a38" providerId="ADAL" clId="{E5954A57-0DDC-40FB-9BAD-C21976F4771A}" dt="2024-03-22T05:32:14.152" v="0" actId="2696"/>
      <pc:docMkLst>
        <pc:docMk/>
      </pc:docMkLst>
      <pc:sldChg chg="del">
        <pc:chgData name="Shixun Huang" userId="5c4f4171-79f0-4b87-aa1d-c097d9ee5a38" providerId="ADAL" clId="{E5954A57-0DDC-40FB-9BAD-C21976F4771A}" dt="2024-03-22T05:32:14.152" v="0" actId="2696"/>
        <pc:sldMkLst>
          <pc:docMk/>
          <pc:sldMk cId="0" sldId="257"/>
        </pc:sldMkLst>
      </pc:sldChg>
      <pc:sldChg chg="del">
        <pc:chgData name="Shixun Huang" userId="5c4f4171-79f0-4b87-aa1d-c097d9ee5a38" providerId="ADAL" clId="{E5954A57-0DDC-40FB-9BAD-C21976F4771A}" dt="2024-03-22T05:32:14.152" v="0" actId="2696"/>
        <pc:sldMkLst>
          <pc:docMk/>
          <pc:sldMk cId="0" sldId="258"/>
        </pc:sldMkLst>
      </pc:sldChg>
      <pc:sldChg chg="del">
        <pc:chgData name="Shixun Huang" userId="5c4f4171-79f0-4b87-aa1d-c097d9ee5a38" providerId="ADAL" clId="{E5954A57-0DDC-40FB-9BAD-C21976F4771A}" dt="2024-03-22T05:32:14.152" v="0" actId="2696"/>
        <pc:sldMkLst>
          <pc:docMk/>
          <pc:sldMk cId="0" sldId="259"/>
        </pc:sldMkLst>
      </pc:sldChg>
      <pc:sldChg chg="del">
        <pc:chgData name="Shixun Huang" userId="5c4f4171-79f0-4b87-aa1d-c097d9ee5a38" providerId="ADAL" clId="{E5954A57-0DDC-40FB-9BAD-C21976F4771A}" dt="2024-03-22T05:32:14.152" v="0" actId="2696"/>
        <pc:sldMkLst>
          <pc:docMk/>
          <pc:sldMk cId="0" sldId="260"/>
        </pc:sldMkLst>
      </pc:sldChg>
      <pc:sldChg chg="del">
        <pc:chgData name="Shixun Huang" userId="5c4f4171-79f0-4b87-aa1d-c097d9ee5a38" providerId="ADAL" clId="{E5954A57-0DDC-40FB-9BAD-C21976F4771A}" dt="2024-03-22T05:32:14.152" v="0" actId="2696"/>
        <pc:sldMkLst>
          <pc:docMk/>
          <pc:sldMk cId="0" sldId="262"/>
        </pc:sldMkLst>
      </pc:sldChg>
      <pc:sldChg chg="del">
        <pc:chgData name="Shixun Huang" userId="5c4f4171-79f0-4b87-aa1d-c097d9ee5a38" providerId="ADAL" clId="{E5954A57-0DDC-40FB-9BAD-C21976F4771A}" dt="2024-03-22T05:32:14.152" v="0" actId="2696"/>
        <pc:sldMkLst>
          <pc:docMk/>
          <pc:sldMk cId="0" sldId="269"/>
        </pc:sldMkLst>
      </pc:sldChg>
      <pc:sldChg chg="del">
        <pc:chgData name="Shixun Huang" userId="5c4f4171-79f0-4b87-aa1d-c097d9ee5a38" providerId="ADAL" clId="{E5954A57-0DDC-40FB-9BAD-C21976F4771A}" dt="2024-03-22T05:32:14.152" v="0" actId="2696"/>
        <pc:sldMkLst>
          <pc:docMk/>
          <pc:sldMk cId="0" sldId="27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2024/3/22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Calibri" panose="020F050202020403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Calibri" panose="020F0502020204030204" pitchFamily="34" charset="0"/>
              </a:defRPr>
            </a:lvl1pPr>
          </a:lstStyle>
          <a:p>
            <a:fld id="{D2A48B96-639E-45A3-A0BA-2464DFDB1FAA}" type="datetimeFigureOut">
              <a:rPr lang="zh-CN" altLang="en-US" smtClean="0"/>
              <a:t>2024/3/22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Calibri" panose="020F050202020403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Calibri" panose="020F0502020204030204" pitchFamily="34" charset="0"/>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Calibri" panose="020F0502020204030204" pitchFamily="34" charset="0"/>
        <a:cs typeface="+mn-cs"/>
      </a:defRPr>
    </a:lvl1pPr>
    <a:lvl2pPr marL="457200" algn="l" defTabSz="914400" rtl="0" eaLnBrk="1" latinLnBrk="0" hangingPunct="1">
      <a:defRPr sz="1200" kern="1200">
        <a:solidFill>
          <a:schemeClr val="tx1"/>
        </a:solidFill>
        <a:latin typeface="+mn-lt"/>
        <a:ea typeface="Calibri" panose="020F0502020204030204" pitchFamily="34" charset="0"/>
        <a:cs typeface="+mn-cs"/>
      </a:defRPr>
    </a:lvl2pPr>
    <a:lvl3pPr marL="914400" algn="l" defTabSz="914400" rtl="0" eaLnBrk="1" latinLnBrk="0" hangingPunct="1">
      <a:defRPr sz="1200" kern="1200">
        <a:solidFill>
          <a:schemeClr val="tx1"/>
        </a:solidFill>
        <a:latin typeface="+mn-lt"/>
        <a:ea typeface="Calibri" panose="020F0502020204030204" pitchFamily="34" charset="0"/>
        <a:cs typeface="+mn-cs"/>
      </a:defRPr>
    </a:lvl3pPr>
    <a:lvl4pPr marL="1371600" algn="l" defTabSz="914400" rtl="0" eaLnBrk="1" latinLnBrk="0" hangingPunct="1">
      <a:defRPr sz="1200" kern="1200">
        <a:solidFill>
          <a:schemeClr val="tx1"/>
        </a:solidFill>
        <a:latin typeface="+mn-lt"/>
        <a:ea typeface="Calibri" panose="020F0502020204030204" pitchFamily="34" charset="0"/>
        <a:cs typeface="+mn-cs"/>
      </a:defRPr>
    </a:lvl4pPr>
    <a:lvl5pPr marL="1828800" algn="l" defTabSz="914400" rtl="0" eaLnBrk="1" latinLnBrk="0" hangingPunct="1">
      <a:defRPr sz="1200" kern="1200">
        <a:solidFill>
          <a:schemeClr val="tx1"/>
        </a:solidFill>
        <a:latin typeface="+mn-lt"/>
        <a:ea typeface="Calibri" panose="020F050202020403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4A4CFA3-DB98-45A2-AAE3-52D9BDB7DD8D}" type="datetimeFigureOut">
              <a:rPr lang="zh-CN" altLang="en-US" smtClean="0"/>
              <a:t>2024/3/22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74A263-F159-4676-87FC-72AFA819E21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Calibri" panose="020F0502020204030204" pitchFamily="34" charset="0"/>
              </a:defRPr>
            </a:lvl1pPr>
          </a:lstStyle>
          <a:p>
            <a:fld id="{F4A4CFA3-DB98-45A2-AAE3-52D9BDB7DD8D}" type="datetimeFigureOut">
              <a:rPr lang="zh-CN" altLang="en-US" smtClean="0"/>
              <a:t>2024/3/22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Calibri" panose="020F0502020204030204" pitchFamily="3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Calibri" panose="020F0502020204030204" pitchFamily="34" charset="0"/>
              </a:defRPr>
            </a:lvl1pPr>
          </a:lstStyle>
          <a:p>
            <a:fld id="{6874A263-F159-4676-87FC-72AFA819E21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Calibri" panose="020F050202020403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Calibri" panose="020F050202020403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Calibri" panose="020F050202020403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Calibri" panose="020F050202020403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Calibri" panose="020F050202020403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Calibri" panose="020F050202020403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p:cNvSpPr/>
          <p:nvPr/>
        </p:nvSpPr>
        <p:spPr>
          <a:xfrm>
            <a:off x="8084820" y="4749165"/>
            <a:ext cx="2232025" cy="706755"/>
          </a:xfrm>
          <a:prstGeom prst="rect">
            <a:avLst/>
          </a:prstGeom>
        </p:spPr>
        <p:txBody>
          <a:bodyPr wrap="square">
            <a:spAutoFit/>
          </a:bodyPr>
          <a:lstStyle/>
          <a:p>
            <a:pPr algn="dist"/>
            <a:r>
              <a:rPr lang="en-US" altLang="zh-CN" sz="2000" dirty="0">
                <a:solidFill>
                  <a:schemeClr val="bg1"/>
                </a:solidFill>
                <a:latin typeface="Calibri" panose="020F0502020204030204" pitchFamily="34" charset="0"/>
                <a:ea typeface="Calibri" panose="020F0502020204030204" pitchFamily="34" charset="0"/>
              </a:rPr>
              <a:t>Week5 Tutorial</a:t>
            </a:r>
            <a:r>
              <a:rPr lang="zh-CN" altLang="en-US" sz="2000" dirty="0">
                <a:solidFill>
                  <a:schemeClr val="bg1"/>
                </a:solidFill>
                <a:latin typeface="Calibri" panose="020F0502020204030204" pitchFamily="34" charset="0"/>
                <a:ea typeface="Calibri" panose="020F0502020204030204" pitchFamily="34" charset="0"/>
              </a:rPr>
              <a:t>
</a:t>
            </a:r>
            <a:endParaRPr lang="zh-CN" altLang="en-US" sz="2000" dirty="0">
              <a:solidFill>
                <a:schemeClr val="bg1"/>
              </a:solidFill>
              <a:ea typeface="Calibri" panose="020F0502020204030204" pitchFamily="34" charset="0"/>
            </a:endParaRPr>
          </a:p>
        </p:txBody>
      </p:sp>
      <p:sp>
        <p:nvSpPr>
          <p:cNvPr id="8" name="圆角矩形 7"/>
          <p:cNvSpPr/>
          <p:nvPr/>
        </p:nvSpPr>
        <p:spPr>
          <a:xfrm>
            <a:off x="7941772" y="4748978"/>
            <a:ext cx="2517508" cy="400110"/>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pitchFamily="34" charset="0"/>
            </a:endParaRPr>
          </a:p>
        </p:txBody>
      </p:sp>
      <p:sp>
        <p:nvSpPr>
          <p:cNvPr id="2" name="文本框 1"/>
          <p:cNvSpPr txBox="1"/>
          <p:nvPr/>
        </p:nvSpPr>
        <p:spPr>
          <a:xfrm>
            <a:off x="4262755" y="1703070"/>
            <a:ext cx="7447915" cy="3046095"/>
          </a:xfrm>
          <a:prstGeom prst="rect">
            <a:avLst/>
          </a:prstGeom>
          <a:noFill/>
        </p:spPr>
        <p:txBody>
          <a:bodyPr wrap="square" rtlCol="0">
            <a:spAutoFit/>
          </a:bodyPr>
          <a:lstStyle/>
          <a:p>
            <a:r>
              <a:rPr lang="en-US" altLang="zh-CN" sz="4800" b="1" dirty="0">
                <a:solidFill>
                  <a:schemeClr val="bg1"/>
                </a:solidFill>
                <a:latin typeface="Calibri" panose="020F0502020204030204" pitchFamily="34" charset="0"/>
                <a:ea typeface="Calibri" panose="020F0502020204030204" pitchFamily="34" charset="0"/>
              </a:rPr>
              <a:t>CSCI910/410 </a:t>
            </a:r>
          </a:p>
          <a:p>
            <a:r>
              <a:rPr lang="en-US" altLang="zh-CN" sz="4800" b="1" dirty="0">
                <a:solidFill>
                  <a:schemeClr val="bg1"/>
                </a:solidFill>
                <a:latin typeface="Calibri" panose="020F0502020204030204" pitchFamily="34" charset="0"/>
                <a:ea typeface="Calibri" panose="020F0502020204030204" pitchFamily="34" charset="0"/>
              </a:rPr>
              <a:t>Software Requirements, Specifications and Formal Methods </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461510" y="311150"/>
            <a:ext cx="29356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dist"/>
            <a:r>
              <a:rPr lang="en-US" altLang="zh-CN" sz="2800" b="1" dirty="0">
                <a:latin typeface="Calibri" panose="020F0502020204030204" pitchFamily="34" charset="0"/>
                <a:ea typeface="Calibri" panose="020F0502020204030204" pitchFamily="34" charset="0"/>
                <a:sym typeface="黑体" panose="02010609060101010101" pitchFamily="49" charset="-122"/>
              </a:rPr>
              <a:t>Exercise 1</a:t>
            </a:r>
          </a:p>
        </p:txBody>
      </p:sp>
      <p:pic>
        <p:nvPicPr>
          <p:cNvPr id="3" name="图片 2"/>
          <p:cNvPicPr>
            <a:picLocks noChangeAspect="1"/>
          </p:cNvPicPr>
          <p:nvPr/>
        </p:nvPicPr>
        <p:blipFill>
          <a:blip r:embed="rId2"/>
          <a:stretch>
            <a:fillRect/>
          </a:stretch>
        </p:blipFill>
        <p:spPr>
          <a:xfrm>
            <a:off x="423571" y="1310499"/>
            <a:ext cx="11344859" cy="4644134"/>
          </a:xfrm>
          <a:prstGeom prst="rect">
            <a:avLst/>
          </a:prstGeom>
        </p:spPr>
      </p:pic>
      <p:sp>
        <p:nvSpPr>
          <p:cNvPr id="7" name="圆角矩形 6"/>
          <p:cNvSpPr/>
          <p:nvPr/>
        </p:nvSpPr>
        <p:spPr>
          <a:xfrm>
            <a:off x="1833880" y="1863725"/>
            <a:ext cx="8190230" cy="3729355"/>
          </a:xfrm>
          <a:prstGeom prst="roundRect">
            <a:avLst>
              <a:gd name="adj" fmla="val 10785"/>
            </a:avLst>
          </a:prstGeom>
          <a:gradFill>
            <a:gsLst>
              <a:gs pos="0">
                <a:srgbClr val="A02A7D"/>
              </a:gs>
              <a:gs pos="41000">
                <a:srgbClr val="553058"/>
              </a:gs>
              <a:gs pos="83000">
                <a:srgbClr val="221B56"/>
              </a:gs>
              <a:gs pos="100000">
                <a:srgbClr val="221B56"/>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pitchFamily="34" charset="0"/>
            </a:endParaRPr>
          </a:p>
        </p:txBody>
      </p:sp>
      <p:sp>
        <p:nvSpPr>
          <p:cNvPr id="8" name="TextBox 15"/>
          <p:cNvSpPr txBox="1">
            <a:spLocks noChangeArrowheads="1"/>
          </p:cNvSpPr>
          <p:nvPr/>
        </p:nvSpPr>
        <p:spPr bwMode="auto">
          <a:xfrm>
            <a:off x="2105660" y="2278380"/>
            <a:ext cx="7647305" cy="2399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icrosoft YaHei" panose="020B0503020204020204" pitchFamily="34" charset="-122"/>
              </a:defRPr>
            </a:lvl1pPr>
            <a:lvl2pPr marL="742950" indent="-285750">
              <a:defRPr>
                <a:solidFill>
                  <a:schemeClr val="tx1"/>
                </a:solidFill>
                <a:latin typeface="Calibri" panose="020F0502020204030204" pitchFamily="34" charset="0"/>
                <a:ea typeface="Microsoft YaHei" panose="020B0503020204020204" pitchFamily="34" charset="-122"/>
              </a:defRPr>
            </a:lvl2pPr>
            <a:lvl3pPr marL="1143000" indent="-228600">
              <a:defRPr>
                <a:solidFill>
                  <a:schemeClr val="tx1"/>
                </a:solidFill>
                <a:latin typeface="Calibri" panose="020F0502020204030204" pitchFamily="34" charset="0"/>
                <a:ea typeface="Microsoft YaHei" panose="020B0503020204020204" pitchFamily="34" charset="-122"/>
              </a:defRPr>
            </a:lvl3pPr>
            <a:lvl4pPr marL="1600200" indent="-228600">
              <a:defRPr>
                <a:solidFill>
                  <a:schemeClr val="tx1"/>
                </a:solidFill>
                <a:latin typeface="Calibri" panose="020F0502020204030204" pitchFamily="34" charset="0"/>
                <a:ea typeface="Microsoft YaHei" panose="020B0503020204020204" pitchFamily="34" charset="-122"/>
              </a:defRPr>
            </a:lvl4pPr>
            <a:lvl5pPr marL="2057400" indent="-228600">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9pPr>
          </a:lstStyle>
          <a:p>
            <a:pPr algn="ctr">
              <a:lnSpc>
                <a:spcPct val="125000"/>
              </a:lnSpc>
            </a:pPr>
            <a:r>
              <a:rPr lang="en-US" sz="2400" b="1" dirty="0">
                <a:solidFill>
                  <a:schemeClr val="bg1"/>
                </a:solidFill>
                <a:ea typeface="Calibri" panose="020F0502020204030204" pitchFamily="34" charset="0"/>
              </a:rPr>
              <a:t>Use the goal-based approaches to complete the requirements elicitation for the mission: To automate the baggage drop-off after the passenger successfully check-in and print his/her boarding pass.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994275" y="338455"/>
            <a:ext cx="2367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dist"/>
            <a:r>
              <a:rPr lang="en-US" sz="2800" b="1" dirty="0">
                <a:ea typeface="Calibri" panose="020F0502020204030204" pitchFamily="34" charset="0"/>
                <a:sym typeface="+mn-ea"/>
              </a:rPr>
              <a:t>Goal 1</a:t>
            </a:r>
            <a:endParaRPr lang="en-US" altLang="zh-CN" sz="2800" b="1" dirty="0">
              <a:latin typeface="Calibri" panose="020F0502020204030204" pitchFamily="34" charset="0"/>
              <a:ea typeface="Calibri" panose="020F0502020204030204" pitchFamily="34" charset="0"/>
              <a:sym typeface="黑体" panose="02010609060101010101" pitchFamily="49" charset="-122"/>
            </a:endParaRPr>
          </a:p>
        </p:txBody>
      </p:sp>
      <p:pic>
        <p:nvPicPr>
          <p:cNvPr id="3" name="图片 2"/>
          <p:cNvPicPr>
            <a:picLocks noChangeAspect="1"/>
          </p:cNvPicPr>
          <p:nvPr/>
        </p:nvPicPr>
        <p:blipFill>
          <a:blip r:embed="rId2"/>
          <a:stretch>
            <a:fillRect/>
          </a:stretch>
        </p:blipFill>
        <p:spPr>
          <a:xfrm>
            <a:off x="-35560" y="1122680"/>
            <a:ext cx="12228195" cy="5005705"/>
          </a:xfrm>
          <a:prstGeom prst="rect">
            <a:avLst/>
          </a:prstGeom>
        </p:spPr>
      </p:pic>
      <p:sp>
        <p:nvSpPr>
          <p:cNvPr id="7" name="圆角矩形 6"/>
          <p:cNvSpPr/>
          <p:nvPr/>
        </p:nvSpPr>
        <p:spPr>
          <a:xfrm>
            <a:off x="862330" y="1301750"/>
            <a:ext cx="10631805" cy="4647565"/>
          </a:xfrm>
          <a:prstGeom prst="roundRect">
            <a:avLst>
              <a:gd name="adj" fmla="val 10785"/>
            </a:avLst>
          </a:prstGeom>
          <a:gradFill>
            <a:gsLst>
              <a:gs pos="0">
                <a:srgbClr val="A02A7D"/>
              </a:gs>
              <a:gs pos="41000">
                <a:srgbClr val="553058"/>
              </a:gs>
              <a:gs pos="83000">
                <a:srgbClr val="221B56"/>
              </a:gs>
              <a:gs pos="100000">
                <a:srgbClr val="221B56"/>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pitchFamily="34" charset="0"/>
            </a:endParaRPr>
          </a:p>
        </p:txBody>
      </p:sp>
      <p:sp>
        <p:nvSpPr>
          <p:cNvPr id="8" name="TextBox 15"/>
          <p:cNvSpPr txBox="1">
            <a:spLocks noChangeArrowheads="1"/>
          </p:cNvSpPr>
          <p:nvPr/>
        </p:nvSpPr>
        <p:spPr bwMode="auto">
          <a:xfrm>
            <a:off x="1165225" y="1574800"/>
            <a:ext cx="10026015" cy="3938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icrosoft YaHei" panose="020B0503020204020204" pitchFamily="34" charset="-122"/>
              </a:defRPr>
            </a:lvl1pPr>
            <a:lvl2pPr marL="742950" indent="-285750">
              <a:defRPr>
                <a:solidFill>
                  <a:schemeClr val="tx1"/>
                </a:solidFill>
                <a:latin typeface="Calibri" panose="020F0502020204030204" pitchFamily="34" charset="0"/>
                <a:ea typeface="Microsoft YaHei" panose="020B0503020204020204" pitchFamily="34" charset="-122"/>
              </a:defRPr>
            </a:lvl2pPr>
            <a:lvl3pPr marL="1143000" indent="-228600">
              <a:defRPr>
                <a:solidFill>
                  <a:schemeClr val="tx1"/>
                </a:solidFill>
                <a:latin typeface="Calibri" panose="020F0502020204030204" pitchFamily="34" charset="0"/>
                <a:ea typeface="Microsoft YaHei" panose="020B0503020204020204" pitchFamily="34" charset="-122"/>
              </a:defRPr>
            </a:lvl3pPr>
            <a:lvl4pPr marL="1600200" indent="-228600">
              <a:defRPr>
                <a:solidFill>
                  <a:schemeClr val="tx1"/>
                </a:solidFill>
                <a:latin typeface="Calibri" panose="020F0502020204030204" pitchFamily="34" charset="0"/>
                <a:ea typeface="Microsoft YaHei" panose="020B0503020204020204" pitchFamily="34" charset="-122"/>
              </a:defRPr>
            </a:lvl4pPr>
            <a:lvl5pPr marL="2057400" indent="-228600">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9pPr>
          </a:lstStyle>
          <a:p>
            <a:pPr algn="just">
              <a:lnSpc>
                <a:spcPct val="125000"/>
              </a:lnSpc>
            </a:pPr>
            <a:r>
              <a:rPr lang="en-US" sz="2000" b="1" dirty="0">
                <a:solidFill>
                  <a:schemeClr val="bg1"/>
                </a:solidFill>
                <a:ea typeface="Calibri" panose="020F0502020204030204" pitchFamily="34" charset="0"/>
              </a:rPr>
              <a:t>Goal: To completely automated the tracking of baggage from check-in to pick-up.</a:t>
            </a:r>
          </a:p>
          <a:p>
            <a:pPr algn="just">
              <a:lnSpc>
                <a:spcPct val="125000"/>
              </a:lnSpc>
            </a:pPr>
            <a:r>
              <a:rPr lang="en-US" sz="2000" b="1" dirty="0">
                <a:solidFill>
                  <a:schemeClr val="bg1"/>
                </a:solidFill>
                <a:ea typeface="Calibri" panose="020F0502020204030204" pitchFamily="34" charset="0"/>
              </a:rPr>
              <a:t>Questions:</a:t>
            </a:r>
          </a:p>
          <a:p>
            <a:pPr algn="just">
              <a:lnSpc>
                <a:spcPct val="125000"/>
              </a:lnSpc>
            </a:pPr>
            <a:r>
              <a:rPr lang="en-US" sz="2000" b="1" dirty="0">
                <a:solidFill>
                  <a:schemeClr val="bg1"/>
                </a:solidFill>
                <a:ea typeface="Calibri" panose="020F0502020204030204" pitchFamily="34" charset="0"/>
              </a:rPr>
              <a:t>(1) What is the current level of automation in the baggage handling system?</a:t>
            </a:r>
          </a:p>
          <a:p>
            <a:pPr algn="just">
              <a:lnSpc>
                <a:spcPct val="125000"/>
              </a:lnSpc>
            </a:pPr>
            <a:r>
              <a:rPr lang="en-US" sz="2000" b="1" dirty="0">
                <a:solidFill>
                  <a:schemeClr val="bg1"/>
                </a:solidFill>
                <a:ea typeface="Calibri" panose="020F0502020204030204" pitchFamily="34" charset="0"/>
              </a:rPr>
              <a:t>(Metrics: the percentage of automated processes or devices from check-in to pick-up, e.g. check-in systems, baggage drop-off counter, etc)</a:t>
            </a:r>
          </a:p>
          <a:p>
            <a:pPr algn="just">
              <a:lnSpc>
                <a:spcPct val="125000"/>
              </a:lnSpc>
            </a:pPr>
            <a:r>
              <a:rPr lang="en-US" sz="2000" b="1" dirty="0">
                <a:solidFill>
                  <a:schemeClr val="bg1"/>
                </a:solidFill>
                <a:ea typeface="Calibri" panose="020F0502020204030204" pitchFamily="34" charset="0"/>
              </a:rPr>
              <a:t>(2) What is the expected throughput of the tracking system?</a:t>
            </a:r>
          </a:p>
          <a:p>
            <a:pPr algn="just">
              <a:lnSpc>
                <a:spcPct val="125000"/>
              </a:lnSpc>
            </a:pPr>
            <a:r>
              <a:rPr lang="en-US" sz="2000" b="1" dirty="0">
                <a:solidFill>
                  <a:schemeClr val="bg1"/>
                </a:solidFill>
                <a:ea typeface="Calibri" panose="020F0502020204030204" pitchFamily="34" charset="0"/>
              </a:rPr>
              <a:t>(Metrics: capacity and capabilities of the tracking system, e.g., the number of baggage that the system can track at the same time or during a time period)</a:t>
            </a:r>
          </a:p>
          <a:p>
            <a:pPr algn="just">
              <a:lnSpc>
                <a:spcPct val="125000"/>
              </a:lnSpc>
            </a:pPr>
            <a:r>
              <a:rPr lang="en-US" sz="2000" b="1" dirty="0">
                <a:solidFill>
                  <a:schemeClr val="bg1"/>
                </a:solidFill>
                <a:ea typeface="Calibri" panose="020F0502020204030204" pitchFamily="34" charset="0"/>
              </a:rPr>
              <a:t>(3) What are the potential failure points of the tracking system?</a:t>
            </a:r>
          </a:p>
          <a:p>
            <a:pPr algn="just">
              <a:lnSpc>
                <a:spcPct val="125000"/>
              </a:lnSpc>
            </a:pPr>
            <a:r>
              <a:rPr lang="en-US" sz="2000" b="1" dirty="0">
                <a:solidFill>
                  <a:schemeClr val="bg1"/>
                </a:solidFill>
                <a:ea typeface="Calibri" panose="020F0502020204030204" pitchFamily="34" charset="0"/>
              </a:rPr>
              <a:t>(Metrics: the failure rate of devices, e.g., camera, conveyor belt)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994275" y="338455"/>
            <a:ext cx="2367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dist"/>
            <a:r>
              <a:rPr lang="en-US" sz="2800" b="1" dirty="0">
                <a:ea typeface="Calibri" panose="020F0502020204030204" pitchFamily="34" charset="0"/>
                <a:sym typeface="+mn-ea"/>
              </a:rPr>
              <a:t>Goal 2</a:t>
            </a:r>
            <a:endParaRPr lang="en-US" altLang="zh-CN" sz="2800" b="1" dirty="0">
              <a:latin typeface="Calibri" panose="020F0502020204030204" pitchFamily="34" charset="0"/>
              <a:ea typeface="Calibri" panose="020F0502020204030204" pitchFamily="34" charset="0"/>
              <a:sym typeface="黑体" panose="02010609060101010101" pitchFamily="49" charset="-122"/>
            </a:endParaRPr>
          </a:p>
        </p:txBody>
      </p:sp>
      <p:pic>
        <p:nvPicPr>
          <p:cNvPr id="3" name="图片 2"/>
          <p:cNvPicPr>
            <a:picLocks noChangeAspect="1"/>
          </p:cNvPicPr>
          <p:nvPr/>
        </p:nvPicPr>
        <p:blipFill>
          <a:blip r:embed="rId2"/>
          <a:stretch>
            <a:fillRect/>
          </a:stretch>
        </p:blipFill>
        <p:spPr>
          <a:xfrm>
            <a:off x="-35560" y="1122680"/>
            <a:ext cx="12228195" cy="5005705"/>
          </a:xfrm>
          <a:prstGeom prst="rect">
            <a:avLst/>
          </a:prstGeom>
        </p:spPr>
      </p:pic>
      <p:sp>
        <p:nvSpPr>
          <p:cNvPr id="7" name="圆角矩形 6"/>
          <p:cNvSpPr/>
          <p:nvPr/>
        </p:nvSpPr>
        <p:spPr>
          <a:xfrm>
            <a:off x="226695" y="1301750"/>
            <a:ext cx="11703050" cy="4647565"/>
          </a:xfrm>
          <a:prstGeom prst="roundRect">
            <a:avLst>
              <a:gd name="adj" fmla="val 10785"/>
            </a:avLst>
          </a:prstGeom>
          <a:gradFill>
            <a:gsLst>
              <a:gs pos="0">
                <a:srgbClr val="A02A7D"/>
              </a:gs>
              <a:gs pos="41000">
                <a:srgbClr val="553058"/>
              </a:gs>
              <a:gs pos="83000">
                <a:srgbClr val="221B56"/>
              </a:gs>
              <a:gs pos="100000">
                <a:srgbClr val="221B56"/>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pitchFamily="34" charset="0"/>
            </a:endParaRPr>
          </a:p>
        </p:txBody>
      </p:sp>
      <p:sp>
        <p:nvSpPr>
          <p:cNvPr id="8" name="TextBox 15"/>
          <p:cNvSpPr txBox="1">
            <a:spLocks noChangeArrowheads="1"/>
          </p:cNvSpPr>
          <p:nvPr/>
        </p:nvSpPr>
        <p:spPr bwMode="auto">
          <a:xfrm>
            <a:off x="922655" y="1844675"/>
            <a:ext cx="10616565" cy="316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icrosoft YaHei" panose="020B0503020204020204" pitchFamily="34" charset="-122"/>
              </a:defRPr>
            </a:lvl1pPr>
            <a:lvl2pPr marL="742950" indent="-285750">
              <a:defRPr>
                <a:solidFill>
                  <a:schemeClr val="tx1"/>
                </a:solidFill>
                <a:latin typeface="Calibri" panose="020F0502020204030204" pitchFamily="34" charset="0"/>
                <a:ea typeface="Microsoft YaHei" panose="020B0503020204020204" pitchFamily="34" charset="-122"/>
              </a:defRPr>
            </a:lvl2pPr>
            <a:lvl3pPr marL="1143000" indent="-228600">
              <a:defRPr>
                <a:solidFill>
                  <a:schemeClr val="tx1"/>
                </a:solidFill>
                <a:latin typeface="Calibri" panose="020F0502020204030204" pitchFamily="34" charset="0"/>
                <a:ea typeface="Microsoft YaHei" panose="020B0503020204020204" pitchFamily="34" charset="-122"/>
              </a:defRPr>
            </a:lvl3pPr>
            <a:lvl4pPr marL="1600200" indent="-228600">
              <a:defRPr>
                <a:solidFill>
                  <a:schemeClr val="tx1"/>
                </a:solidFill>
                <a:latin typeface="Calibri" panose="020F0502020204030204" pitchFamily="34" charset="0"/>
                <a:ea typeface="Microsoft YaHei" panose="020B0503020204020204" pitchFamily="34" charset="-122"/>
              </a:defRPr>
            </a:lvl4pPr>
            <a:lvl5pPr marL="2057400" indent="-228600">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9pPr>
          </a:lstStyle>
          <a:p>
            <a:pPr algn="just">
              <a:lnSpc>
                <a:spcPct val="125000"/>
              </a:lnSpc>
            </a:pPr>
            <a:r>
              <a:rPr lang="en-US" sz="2000" b="1" dirty="0">
                <a:solidFill>
                  <a:schemeClr val="bg1"/>
                </a:solidFill>
                <a:ea typeface="Calibri" panose="020F0502020204030204" pitchFamily="34" charset="0"/>
              </a:rPr>
              <a:t>Goal: To completely automate the routing of baggage from check-in counter to plane.</a:t>
            </a:r>
          </a:p>
          <a:p>
            <a:pPr algn="just">
              <a:lnSpc>
                <a:spcPct val="125000"/>
              </a:lnSpc>
            </a:pPr>
            <a:r>
              <a:rPr lang="en-US" sz="2000" b="1" dirty="0">
                <a:solidFill>
                  <a:schemeClr val="bg1"/>
                </a:solidFill>
                <a:ea typeface="Calibri" panose="020F0502020204030204" pitchFamily="34" charset="0"/>
              </a:rPr>
              <a:t>Questions:</a:t>
            </a:r>
          </a:p>
          <a:p>
            <a:pPr algn="just">
              <a:lnSpc>
                <a:spcPct val="125000"/>
              </a:lnSpc>
            </a:pPr>
            <a:r>
              <a:rPr lang="en-US" sz="2000" b="1" dirty="0">
                <a:solidFill>
                  <a:schemeClr val="bg1"/>
                </a:solidFill>
                <a:ea typeface="Calibri" panose="020F0502020204030204" pitchFamily="34" charset="0"/>
              </a:rPr>
              <a:t>(1) What is the desired throughput of the routing system?</a:t>
            </a:r>
          </a:p>
          <a:p>
            <a:pPr algn="just">
              <a:lnSpc>
                <a:spcPct val="125000"/>
              </a:lnSpc>
            </a:pPr>
            <a:r>
              <a:rPr lang="en-US" sz="2000" b="1" dirty="0">
                <a:solidFill>
                  <a:schemeClr val="bg1"/>
                </a:solidFill>
                <a:ea typeface="Calibri" panose="020F0502020204030204" pitchFamily="34" charset="0"/>
              </a:rPr>
              <a:t>(Metrics: number of bags processed per hour)</a:t>
            </a:r>
          </a:p>
          <a:p>
            <a:pPr algn="just">
              <a:lnSpc>
                <a:spcPct val="125000"/>
              </a:lnSpc>
            </a:pPr>
            <a:r>
              <a:rPr lang="en-US" sz="2000" b="1" dirty="0">
                <a:solidFill>
                  <a:schemeClr val="bg1"/>
                </a:solidFill>
                <a:ea typeface="Calibri" panose="020F0502020204030204" pitchFamily="34" charset="0"/>
              </a:rPr>
              <a:t>(2) How can the system optimize the routing time of baggage?</a:t>
            </a:r>
          </a:p>
          <a:p>
            <a:pPr algn="just">
              <a:lnSpc>
                <a:spcPct val="125000"/>
              </a:lnSpc>
            </a:pPr>
            <a:r>
              <a:rPr lang="en-US" sz="2000" b="1" dirty="0">
                <a:solidFill>
                  <a:schemeClr val="bg1"/>
                </a:solidFill>
                <a:ea typeface="Calibri" panose="020F0502020204030204" pitchFamily="34" charset="0"/>
              </a:rPr>
              <a:t>(Metrics: the travel time and distance between check-in and plane)</a:t>
            </a:r>
          </a:p>
          <a:p>
            <a:pPr algn="just">
              <a:lnSpc>
                <a:spcPct val="125000"/>
              </a:lnSpc>
            </a:pPr>
            <a:r>
              <a:rPr lang="en-US" sz="2000" b="1" dirty="0">
                <a:solidFill>
                  <a:schemeClr val="bg1"/>
                </a:solidFill>
                <a:ea typeface="Calibri" panose="020F0502020204030204" pitchFamily="34" charset="0"/>
              </a:rPr>
              <a:t>(3) Can the routing system can be easily expanded or adapted?</a:t>
            </a:r>
          </a:p>
          <a:p>
            <a:pPr algn="just">
              <a:lnSpc>
                <a:spcPct val="125000"/>
              </a:lnSpc>
            </a:pPr>
            <a:r>
              <a:rPr lang="en-US" sz="2000" b="1" dirty="0">
                <a:solidFill>
                  <a:schemeClr val="bg1"/>
                </a:solidFill>
                <a:ea typeface="Calibri" panose="020F0502020204030204" pitchFamily="34" charset="0"/>
              </a:rPr>
              <a:t>(Metrics: the number of airport infrastructures that the system can interact)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994275" y="338455"/>
            <a:ext cx="2367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dist"/>
            <a:r>
              <a:rPr lang="en-US" sz="2800" b="1" dirty="0">
                <a:ea typeface="Calibri" panose="020F0502020204030204" pitchFamily="34" charset="0"/>
                <a:sym typeface="+mn-ea"/>
              </a:rPr>
              <a:t>Goal 3</a:t>
            </a:r>
            <a:endParaRPr lang="en-US" altLang="zh-CN" sz="2800" b="1" dirty="0">
              <a:latin typeface="Calibri" panose="020F0502020204030204" pitchFamily="34" charset="0"/>
              <a:ea typeface="Calibri" panose="020F0502020204030204" pitchFamily="34" charset="0"/>
              <a:sym typeface="黑体" panose="02010609060101010101" pitchFamily="49" charset="-122"/>
            </a:endParaRPr>
          </a:p>
        </p:txBody>
      </p:sp>
      <p:pic>
        <p:nvPicPr>
          <p:cNvPr id="3" name="图片 2"/>
          <p:cNvPicPr>
            <a:picLocks noChangeAspect="1"/>
          </p:cNvPicPr>
          <p:nvPr/>
        </p:nvPicPr>
        <p:blipFill>
          <a:blip r:embed="rId2"/>
          <a:stretch>
            <a:fillRect/>
          </a:stretch>
        </p:blipFill>
        <p:spPr>
          <a:xfrm>
            <a:off x="-35560" y="1122680"/>
            <a:ext cx="12228195" cy="5005705"/>
          </a:xfrm>
          <a:prstGeom prst="rect">
            <a:avLst/>
          </a:prstGeom>
        </p:spPr>
      </p:pic>
      <p:sp>
        <p:nvSpPr>
          <p:cNvPr id="7" name="圆角矩形 6"/>
          <p:cNvSpPr/>
          <p:nvPr/>
        </p:nvSpPr>
        <p:spPr>
          <a:xfrm>
            <a:off x="226695" y="1301750"/>
            <a:ext cx="11703050" cy="4647565"/>
          </a:xfrm>
          <a:prstGeom prst="roundRect">
            <a:avLst>
              <a:gd name="adj" fmla="val 10785"/>
            </a:avLst>
          </a:prstGeom>
          <a:gradFill>
            <a:gsLst>
              <a:gs pos="0">
                <a:srgbClr val="A02A7D"/>
              </a:gs>
              <a:gs pos="41000">
                <a:srgbClr val="553058"/>
              </a:gs>
              <a:gs pos="83000">
                <a:srgbClr val="221B56"/>
              </a:gs>
              <a:gs pos="100000">
                <a:srgbClr val="221B56"/>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pitchFamily="34" charset="0"/>
            </a:endParaRPr>
          </a:p>
        </p:txBody>
      </p:sp>
      <p:sp>
        <p:nvSpPr>
          <p:cNvPr id="8" name="TextBox 15"/>
          <p:cNvSpPr txBox="1">
            <a:spLocks noChangeArrowheads="1"/>
          </p:cNvSpPr>
          <p:nvPr/>
        </p:nvSpPr>
        <p:spPr bwMode="auto">
          <a:xfrm>
            <a:off x="922655" y="1844675"/>
            <a:ext cx="10616565" cy="316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icrosoft YaHei" panose="020B0503020204020204" pitchFamily="34" charset="-122"/>
              </a:defRPr>
            </a:lvl1pPr>
            <a:lvl2pPr marL="742950" indent="-285750">
              <a:defRPr>
                <a:solidFill>
                  <a:schemeClr val="tx1"/>
                </a:solidFill>
                <a:latin typeface="Calibri" panose="020F0502020204030204" pitchFamily="34" charset="0"/>
                <a:ea typeface="Microsoft YaHei" panose="020B0503020204020204" pitchFamily="34" charset="-122"/>
              </a:defRPr>
            </a:lvl2pPr>
            <a:lvl3pPr marL="1143000" indent="-228600">
              <a:defRPr>
                <a:solidFill>
                  <a:schemeClr val="tx1"/>
                </a:solidFill>
                <a:latin typeface="Calibri" panose="020F0502020204030204" pitchFamily="34" charset="0"/>
                <a:ea typeface="Microsoft YaHei" panose="020B0503020204020204" pitchFamily="34" charset="-122"/>
              </a:defRPr>
            </a:lvl3pPr>
            <a:lvl4pPr marL="1600200" indent="-228600">
              <a:defRPr>
                <a:solidFill>
                  <a:schemeClr val="tx1"/>
                </a:solidFill>
                <a:latin typeface="Calibri" panose="020F0502020204030204" pitchFamily="34" charset="0"/>
                <a:ea typeface="Microsoft YaHei" panose="020B0503020204020204" pitchFamily="34" charset="-122"/>
              </a:defRPr>
            </a:lvl4pPr>
            <a:lvl5pPr marL="2057400" indent="-228600">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9pPr>
          </a:lstStyle>
          <a:p>
            <a:pPr algn="just">
              <a:lnSpc>
                <a:spcPct val="125000"/>
              </a:lnSpc>
            </a:pPr>
            <a:r>
              <a:rPr lang="en-US" sz="2000" b="1" dirty="0">
                <a:solidFill>
                  <a:schemeClr val="bg1"/>
                </a:solidFill>
                <a:ea typeface="Calibri" panose="020F0502020204030204" pitchFamily="34" charset="0"/>
              </a:rPr>
              <a:t>Goal: To reduce the amount of lost baggage to 1%.</a:t>
            </a:r>
          </a:p>
          <a:p>
            <a:pPr algn="just">
              <a:lnSpc>
                <a:spcPct val="125000"/>
              </a:lnSpc>
            </a:pPr>
            <a:r>
              <a:rPr lang="en-US" sz="2000" b="1" dirty="0">
                <a:solidFill>
                  <a:schemeClr val="bg1"/>
                </a:solidFill>
                <a:ea typeface="Calibri" panose="020F0502020204030204" pitchFamily="34" charset="0"/>
              </a:rPr>
              <a:t>Questions:</a:t>
            </a:r>
          </a:p>
          <a:p>
            <a:pPr algn="just">
              <a:lnSpc>
                <a:spcPct val="125000"/>
              </a:lnSpc>
            </a:pPr>
            <a:r>
              <a:rPr lang="en-US" sz="2000" b="1" dirty="0">
                <a:solidFill>
                  <a:schemeClr val="bg1"/>
                </a:solidFill>
                <a:ea typeface="Calibri" panose="020F0502020204030204" pitchFamily="34" charset="0"/>
              </a:rPr>
              <a:t>(1) What percentage of baggage is lost for a given time period/airport/airline/flight?</a:t>
            </a:r>
          </a:p>
          <a:p>
            <a:pPr algn="just">
              <a:lnSpc>
                <a:spcPct val="125000"/>
              </a:lnSpc>
            </a:pPr>
            <a:r>
              <a:rPr lang="en-US" sz="2000" b="1" dirty="0">
                <a:solidFill>
                  <a:schemeClr val="bg1"/>
                </a:solidFill>
                <a:ea typeface="Calibri" panose="020F0502020204030204" pitchFamily="34" charset="0"/>
              </a:rPr>
              <a:t>(Metrics: time period (e.g., one day/hour), flight distance (e.g., kilometers))</a:t>
            </a:r>
          </a:p>
          <a:p>
            <a:pPr algn="just">
              <a:lnSpc>
                <a:spcPct val="125000"/>
              </a:lnSpc>
            </a:pPr>
            <a:r>
              <a:rPr lang="en-US" sz="2000" b="1" dirty="0">
                <a:solidFill>
                  <a:schemeClr val="bg1"/>
                </a:solidFill>
                <a:ea typeface="Calibri" panose="020F0502020204030204" pitchFamily="34" charset="0"/>
              </a:rPr>
              <a:t>(2) What is the current tracking methods to guarantee the success rate?</a:t>
            </a:r>
          </a:p>
          <a:p>
            <a:pPr algn="just">
              <a:lnSpc>
                <a:spcPct val="125000"/>
              </a:lnSpc>
            </a:pPr>
            <a:r>
              <a:rPr lang="en-US" sz="2000" b="1" dirty="0">
                <a:solidFill>
                  <a:schemeClr val="bg1"/>
                </a:solidFill>
                <a:ea typeface="Calibri" panose="020F0502020204030204" pitchFamily="34" charset="0"/>
              </a:rPr>
              <a:t>(Metrics: the number and quality of RFID tags or bar-code)</a:t>
            </a:r>
          </a:p>
          <a:p>
            <a:pPr algn="just">
              <a:lnSpc>
                <a:spcPct val="125000"/>
              </a:lnSpc>
            </a:pPr>
            <a:r>
              <a:rPr lang="en-US" sz="2000" b="1" dirty="0">
                <a:solidFill>
                  <a:schemeClr val="bg1"/>
                </a:solidFill>
                <a:ea typeface="Calibri" panose="020F0502020204030204" pitchFamily="34" charset="0"/>
              </a:rPr>
              <a:t>(3) How can the system improve the read rates of baggage tags to minimize errors?</a:t>
            </a:r>
          </a:p>
          <a:p>
            <a:pPr algn="just">
              <a:lnSpc>
                <a:spcPct val="125000"/>
              </a:lnSpc>
            </a:pPr>
            <a:r>
              <a:rPr lang="en-US" sz="2000" b="1" dirty="0">
                <a:solidFill>
                  <a:schemeClr val="bg1"/>
                </a:solidFill>
                <a:ea typeface="Calibri" panose="020F0502020204030204" pitchFamily="34" charset="0"/>
              </a:rPr>
              <a:t>(Metrics: tag read accuracy and cost of technology upgrade)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589780" y="320675"/>
            <a:ext cx="29641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dist"/>
            <a:r>
              <a:rPr lang="en-US" altLang="zh-CN" sz="2800" b="1" dirty="0">
                <a:latin typeface="Calibri" panose="020F0502020204030204" pitchFamily="34" charset="0"/>
                <a:ea typeface="Calibri" panose="020F0502020204030204" pitchFamily="34" charset="0"/>
                <a:sym typeface="黑体" panose="02010609060101010101" pitchFamily="49" charset="-122"/>
              </a:rPr>
              <a:t>Exercise 2</a:t>
            </a:r>
          </a:p>
        </p:txBody>
      </p:sp>
      <p:pic>
        <p:nvPicPr>
          <p:cNvPr id="3" name="图片 2"/>
          <p:cNvPicPr>
            <a:picLocks noChangeAspect="1"/>
          </p:cNvPicPr>
          <p:nvPr/>
        </p:nvPicPr>
        <p:blipFill>
          <a:blip r:embed="rId2"/>
          <a:stretch>
            <a:fillRect/>
          </a:stretch>
        </p:blipFill>
        <p:spPr>
          <a:xfrm>
            <a:off x="423571" y="1310499"/>
            <a:ext cx="11344859" cy="4644134"/>
          </a:xfrm>
          <a:prstGeom prst="rect">
            <a:avLst/>
          </a:prstGeom>
        </p:spPr>
      </p:pic>
      <p:sp>
        <p:nvSpPr>
          <p:cNvPr id="7" name="圆角矩形 6"/>
          <p:cNvSpPr/>
          <p:nvPr/>
        </p:nvSpPr>
        <p:spPr>
          <a:xfrm>
            <a:off x="1983105" y="1433195"/>
            <a:ext cx="8176895" cy="4292600"/>
          </a:xfrm>
          <a:prstGeom prst="roundRect">
            <a:avLst>
              <a:gd name="adj" fmla="val 10785"/>
            </a:avLst>
          </a:prstGeom>
          <a:gradFill>
            <a:gsLst>
              <a:gs pos="0">
                <a:srgbClr val="A02A7D"/>
              </a:gs>
              <a:gs pos="41000">
                <a:srgbClr val="553058"/>
              </a:gs>
              <a:gs pos="83000">
                <a:srgbClr val="221B56"/>
              </a:gs>
              <a:gs pos="100000">
                <a:srgbClr val="221B56"/>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pitchFamily="34" charset="0"/>
            </a:endParaRPr>
          </a:p>
        </p:txBody>
      </p:sp>
      <p:sp>
        <p:nvSpPr>
          <p:cNvPr id="8" name="TextBox 15"/>
          <p:cNvSpPr txBox="1">
            <a:spLocks noChangeArrowheads="1"/>
          </p:cNvSpPr>
          <p:nvPr/>
        </p:nvSpPr>
        <p:spPr bwMode="auto">
          <a:xfrm>
            <a:off x="2749550" y="1536700"/>
            <a:ext cx="664464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icrosoft YaHei" panose="020B0503020204020204" pitchFamily="34" charset="-122"/>
              </a:defRPr>
            </a:lvl1pPr>
            <a:lvl2pPr marL="742950" indent="-285750">
              <a:defRPr>
                <a:solidFill>
                  <a:schemeClr val="tx1"/>
                </a:solidFill>
                <a:latin typeface="Calibri" panose="020F0502020204030204" pitchFamily="34" charset="0"/>
                <a:ea typeface="Microsoft YaHei" panose="020B0503020204020204" pitchFamily="34" charset="-122"/>
              </a:defRPr>
            </a:lvl2pPr>
            <a:lvl3pPr marL="1143000" indent="-228600">
              <a:defRPr>
                <a:solidFill>
                  <a:schemeClr val="tx1"/>
                </a:solidFill>
                <a:latin typeface="Calibri" panose="020F0502020204030204" pitchFamily="34" charset="0"/>
                <a:ea typeface="Microsoft YaHei" panose="020B0503020204020204" pitchFamily="34" charset="-122"/>
              </a:defRPr>
            </a:lvl3pPr>
            <a:lvl4pPr marL="1600200" indent="-228600">
              <a:defRPr>
                <a:solidFill>
                  <a:schemeClr val="tx1"/>
                </a:solidFill>
                <a:latin typeface="Calibri" panose="020F0502020204030204" pitchFamily="34" charset="0"/>
                <a:ea typeface="Microsoft YaHei" panose="020B0503020204020204" pitchFamily="34" charset="-122"/>
              </a:defRPr>
            </a:lvl4pPr>
            <a:lvl5pPr marL="2057400" indent="-228600">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9pPr>
          </a:lstStyle>
          <a:p>
            <a:pPr algn="ctr">
              <a:lnSpc>
                <a:spcPct val="125000"/>
              </a:lnSpc>
            </a:pPr>
            <a:r>
              <a:rPr lang="en-US" sz="2400" b="1" dirty="0">
                <a:solidFill>
                  <a:schemeClr val="bg1"/>
                </a:solidFill>
                <a:ea typeface="Calibri" panose="020F0502020204030204" pitchFamily="34" charset="0"/>
              </a:rPr>
              <a:t>Based on your solutions on Exercise 1, please draw a baggage drop-off prototype and walk through your prototype with at least two typical scenarios.</a:t>
            </a:r>
          </a:p>
          <a:p>
            <a:pPr algn="ctr">
              <a:lnSpc>
                <a:spcPct val="125000"/>
              </a:lnSpc>
            </a:pPr>
            <a:r>
              <a:rPr lang="en-US" sz="2400" b="1" dirty="0">
                <a:solidFill>
                  <a:schemeClr val="bg1"/>
                </a:solidFill>
                <a:ea typeface="Calibri" panose="020F0502020204030204" pitchFamily="34" charset="0"/>
              </a:rPr>
              <a:t>1. The passenger completes the baggage drop-off task.</a:t>
            </a:r>
          </a:p>
          <a:p>
            <a:pPr algn="ctr">
              <a:lnSpc>
                <a:spcPct val="125000"/>
              </a:lnSpc>
            </a:pPr>
            <a:r>
              <a:rPr lang="en-US" sz="2400" b="1" dirty="0">
                <a:solidFill>
                  <a:schemeClr val="bg1"/>
                </a:solidFill>
                <a:ea typeface="Calibri" panose="020F0502020204030204" pitchFamily="34" charset="0"/>
              </a:rPr>
              <a:t>2. The passenger can’t complete the baggage drop-off task.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956810" y="361950"/>
            <a:ext cx="20974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dist"/>
            <a:r>
              <a:rPr lang="en-US" altLang="zh-CN" sz="2800" b="1" dirty="0">
                <a:latin typeface="Calibri" panose="020F0502020204030204" pitchFamily="34" charset="0"/>
                <a:ea typeface="Calibri" panose="020F0502020204030204" pitchFamily="34" charset="0"/>
                <a:sym typeface="黑体" panose="02010609060101010101" pitchFamily="49" charset="-122"/>
              </a:rPr>
              <a:t>Tips</a:t>
            </a:r>
          </a:p>
        </p:txBody>
      </p:sp>
      <p:pic>
        <p:nvPicPr>
          <p:cNvPr id="3" name="图片 2"/>
          <p:cNvPicPr>
            <a:picLocks noChangeAspect="1"/>
          </p:cNvPicPr>
          <p:nvPr/>
        </p:nvPicPr>
        <p:blipFill>
          <a:blip r:embed="rId3"/>
          <a:stretch>
            <a:fillRect/>
          </a:stretch>
        </p:blipFill>
        <p:spPr>
          <a:xfrm>
            <a:off x="423571" y="1310499"/>
            <a:ext cx="11344859" cy="4644134"/>
          </a:xfrm>
          <a:prstGeom prst="rect">
            <a:avLst/>
          </a:prstGeom>
        </p:spPr>
      </p:pic>
      <p:sp>
        <p:nvSpPr>
          <p:cNvPr id="7" name="圆角矩形 6"/>
          <p:cNvSpPr/>
          <p:nvPr/>
        </p:nvSpPr>
        <p:spPr>
          <a:xfrm>
            <a:off x="423545" y="1310640"/>
            <a:ext cx="11344275" cy="4643755"/>
          </a:xfrm>
          <a:prstGeom prst="roundRect">
            <a:avLst>
              <a:gd name="adj" fmla="val 10785"/>
            </a:avLst>
          </a:prstGeom>
          <a:gradFill>
            <a:gsLst>
              <a:gs pos="0">
                <a:srgbClr val="A02A7D"/>
              </a:gs>
              <a:gs pos="41000">
                <a:srgbClr val="553058"/>
              </a:gs>
              <a:gs pos="83000">
                <a:srgbClr val="221B56"/>
              </a:gs>
              <a:gs pos="100000">
                <a:srgbClr val="221B56"/>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pitchFamily="34" charset="0"/>
            </a:endParaRPr>
          </a:p>
        </p:txBody>
      </p:sp>
      <p:sp>
        <p:nvSpPr>
          <p:cNvPr id="8" name="TextBox 15"/>
          <p:cNvSpPr txBox="1">
            <a:spLocks noChangeArrowheads="1"/>
          </p:cNvSpPr>
          <p:nvPr/>
        </p:nvSpPr>
        <p:spPr bwMode="auto">
          <a:xfrm>
            <a:off x="821055" y="1652270"/>
            <a:ext cx="10501630" cy="432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icrosoft YaHei" panose="020B0503020204020204" pitchFamily="34" charset="-122"/>
              </a:defRPr>
            </a:lvl1pPr>
            <a:lvl2pPr marL="742950" indent="-285750">
              <a:defRPr>
                <a:solidFill>
                  <a:schemeClr val="tx1"/>
                </a:solidFill>
                <a:latin typeface="Calibri" panose="020F0502020204030204" pitchFamily="34" charset="0"/>
                <a:ea typeface="Microsoft YaHei" panose="020B0503020204020204" pitchFamily="34" charset="-122"/>
              </a:defRPr>
            </a:lvl2pPr>
            <a:lvl3pPr marL="1143000" indent="-228600">
              <a:defRPr>
                <a:solidFill>
                  <a:schemeClr val="tx1"/>
                </a:solidFill>
                <a:latin typeface="Calibri" panose="020F0502020204030204" pitchFamily="34" charset="0"/>
                <a:ea typeface="Microsoft YaHei" panose="020B0503020204020204" pitchFamily="34" charset="-122"/>
              </a:defRPr>
            </a:lvl3pPr>
            <a:lvl4pPr marL="1600200" indent="-228600">
              <a:defRPr>
                <a:solidFill>
                  <a:schemeClr val="tx1"/>
                </a:solidFill>
                <a:latin typeface="Calibri" panose="020F0502020204030204" pitchFamily="34" charset="0"/>
                <a:ea typeface="Microsoft YaHei" panose="020B0503020204020204" pitchFamily="34" charset="-122"/>
              </a:defRPr>
            </a:lvl4pPr>
            <a:lvl5pPr marL="2057400" indent="-228600">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9pPr>
          </a:lstStyle>
          <a:p>
            <a:pPr algn="ctr">
              <a:lnSpc>
                <a:spcPct val="125000"/>
              </a:lnSpc>
            </a:pPr>
            <a:r>
              <a:rPr lang="en-US" sz="2000" b="1" dirty="0">
                <a:solidFill>
                  <a:schemeClr val="bg1"/>
                </a:solidFill>
                <a:ea typeface="Calibri" panose="020F0502020204030204" pitchFamily="34" charset="0"/>
              </a:rPr>
              <a:t>The prototype should include following sub-systems:</a:t>
            </a:r>
          </a:p>
          <a:p>
            <a:pPr algn="ctr">
              <a:lnSpc>
                <a:spcPct val="125000"/>
              </a:lnSpc>
            </a:pPr>
            <a:r>
              <a:rPr lang="en-US" sz="2000" b="1" dirty="0">
                <a:solidFill>
                  <a:schemeClr val="bg1"/>
                </a:solidFill>
                <a:ea typeface="Calibri" panose="020F0502020204030204" pitchFamily="34" charset="0"/>
              </a:rPr>
              <a:t>1. Check-in kiosks: These are self-service stations where passengers can check-in, print boarding passes, and baggage tags. In the first scenario, the passenger successfully completes the check-in process, while in the second scenario, they may encounter issues like system errors or invalid travel documents.</a:t>
            </a:r>
          </a:p>
          <a:p>
            <a:pPr algn="ctr">
              <a:lnSpc>
                <a:spcPct val="125000"/>
              </a:lnSpc>
            </a:pPr>
            <a:endParaRPr lang="en-US" sz="2000" b="1" dirty="0">
              <a:solidFill>
                <a:schemeClr val="bg1"/>
              </a:solidFill>
              <a:ea typeface="Calibri" panose="020F0502020204030204" pitchFamily="34" charset="0"/>
            </a:endParaRPr>
          </a:p>
          <a:p>
            <a:pPr algn="ctr">
              <a:lnSpc>
                <a:spcPct val="125000"/>
              </a:lnSpc>
            </a:pPr>
            <a:r>
              <a:rPr lang="en-US" sz="2000" b="1" dirty="0">
                <a:solidFill>
                  <a:schemeClr val="bg1"/>
                </a:solidFill>
                <a:ea typeface="Calibri" panose="020F0502020204030204" pitchFamily="34" charset="0"/>
              </a:rPr>
              <a:t>2. Baggage drop-off counter: A designated area where passengers can drop off their tagged luggage. In the first scenario, the passenger successfully drops off their luggage, while in the second scenario, they may have issues with overweight or oversized luggage, or problems with the tag.</a:t>
            </a:r>
          </a:p>
          <a:p>
            <a:pPr algn="ctr">
              <a:lnSpc>
                <a:spcPct val="125000"/>
              </a:lnSpc>
            </a:pPr>
            <a:endParaRPr lang="en-US" sz="2000" b="1" dirty="0">
              <a:solidFill>
                <a:schemeClr val="bg1"/>
              </a:solidFill>
              <a:ea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956810" y="361950"/>
            <a:ext cx="20974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dist"/>
            <a:r>
              <a:rPr lang="en-US" altLang="zh-CN" sz="2800" b="1" dirty="0">
                <a:latin typeface="Calibri" panose="020F0502020204030204" pitchFamily="34" charset="0"/>
                <a:ea typeface="Calibri" panose="020F0502020204030204" pitchFamily="34" charset="0"/>
                <a:sym typeface="黑体" panose="02010609060101010101" pitchFamily="49" charset="-122"/>
              </a:rPr>
              <a:t>Tips</a:t>
            </a:r>
          </a:p>
        </p:txBody>
      </p:sp>
      <p:pic>
        <p:nvPicPr>
          <p:cNvPr id="3" name="图片 2"/>
          <p:cNvPicPr>
            <a:picLocks noChangeAspect="1"/>
          </p:cNvPicPr>
          <p:nvPr/>
        </p:nvPicPr>
        <p:blipFill>
          <a:blip r:embed="rId3"/>
          <a:stretch>
            <a:fillRect/>
          </a:stretch>
        </p:blipFill>
        <p:spPr>
          <a:xfrm>
            <a:off x="423571" y="1310499"/>
            <a:ext cx="11344859" cy="4644134"/>
          </a:xfrm>
          <a:prstGeom prst="rect">
            <a:avLst/>
          </a:prstGeom>
        </p:spPr>
      </p:pic>
      <p:sp>
        <p:nvSpPr>
          <p:cNvPr id="7" name="圆角矩形 6"/>
          <p:cNvSpPr/>
          <p:nvPr/>
        </p:nvSpPr>
        <p:spPr>
          <a:xfrm>
            <a:off x="423545" y="1310640"/>
            <a:ext cx="11344275" cy="4643755"/>
          </a:xfrm>
          <a:prstGeom prst="roundRect">
            <a:avLst>
              <a:gd name="adj" fmla="val 10785"/>
            </a:avLst>
          </a:prstGeom>
          <a:gradFill>
            <a:gsLst>
              <a:gs pos="0">
                <a:srgbClr val="A02A7D"/>
              </a:gs>
              <a:gs pos="41000">
                <a:srgbClr val="553058"/>
              </a:gs>
              <a:gs pos="83000">
                <a:srgbClr val="221B56"/>
              </a:gs>
              <a:gs pos="100000">
                <a:srgbClr val="221B56"/>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pitchFamily="34" charset="0"/>
            </a:endParaRPr>
          </a:p>
        </p:txBody>
      </p:sp>
      <p:sp>
        <p:nvSpPr>
          <p:cNvPr id="8" name="TextBox 15"/>
          <p:cNvSpPr txBox="1">
            <a:spLocks noChangeArrowheads="1"/>
          </p:cNvSpPr>
          <p:nvPr/>
        </p:nvSpPr>
        <p:spPr bwMode="auto">
          <a:xfrm>
            <a:off x="821055" y="1652270"/>
            <a:ext cx="10501630" cy="3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icrosoft YaHei" panose="020B0503020204020204" pitchFamily="34" charset="-122"/>
              </a:defRPr>
            </a:lvl1pPr>
            <a:lvl2pPr marL="742950" indent="-285750">
              <a:defRPr>
                <a:solidFill>
                  <a:schemeClr val="tx1"/>
                </a:solidFill>
                <a:latin typeface="Calibri" panose="020F0502020204030204" pitchFamily="34" charset="0"/>
                <a:ea typeface="Microsoft YaHei" panose="020B0503020204020204" pitchFamily="34" charset="-122"/>
              </a:defRPr>
            </a:lvl2pPr>
            <a:lvl3pPr marL="1143000" indent="-228600">
              <a:defRPr>
                <a:solidFill>
                  <a:schemeClr val="tx1"/>
                </a:solidFill>
                <a:latin typeface="Calibri" panose="020F0502020204030204" pitchFamily="34" charset="0"/>
                <a:ea typeface="Microsoft YaHei" panose="020B0503020204020204" pitchFamily="34" charset="-122"/>
              </a:defRPr>
            </a:lvl3pPr>
            <a:lvl4pPr marL="1600200" indent="-228600">
              <a:defRPr>
                <a:solidFill>
                  <a:schemeClr val="tx1"/>
                </a:solidFill>
                <a:latin typeface="Calibri" panose="020F0502020204030204" pitchFamily="34" charset="0"/>
                <a:ea typeface="Microsoft YaHei" panose="020B0503020204020204" pitchFamily="34" charset="-122"/>
              </a:defRPr>
            </a:lvl4pPr>
            <a:lvl5pPr marL="2057400" indent="-228600">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9pPr>
          </a:lstStyle>
          <a:p>
            <a:pPr algn="ctr">
              <a:lnSpc>
                <a:spcPct val="125000"/>
              </a:lnSpc>
            </a:pPr>
            <a:r>
              <a:rPr lang="en-US" sz="2000" b="1" dirty="0">
                <a:solidFill>
                  <a:schemeClr val="bg1"/>
                </a:solidFill>
                <a:ea typeface="Calibri" panose="020F0502020204030204" pitchFamily="34" charset="0"/>
              </a:rPr>
              <a:t>The prototype should include following sub-systems:</a:t>
            </a:r>
          </a:p>
          <a:p>
            <a:pPr algn="ctr">
              <a:lnSpc>
                <a:spcPct val="125000"/>
              </a:lnSpc>
            </a:pPr>
            <a:r>
              <a:rPr lang="en-US" sz="2000" b="1" dirty="0">
                <a:solidFill>
                  <a:schemeClr val="bg1"/>
                </a:solidFill>
                <a:ea typeface="Calibri" panose="020F0502020204030204" pitchFamily="34" charset="0"/>
              </a:rPr>
              <a:t>3. Conveyor belt system: This system transports checked luggage from the baggage drop-off area to the baggage handling area. It should work seamlessly in the first scenario, while it may experience issues in the second scenario.</a:t>
            </a:r>
          </a:p>
          <a:p>
            <a:pPr algn="ctr">
              <a:lnSpc>
                <a:spcPct val="125000"/>
              </a:lnSpc>
            </a:pPr>
            <a:r>
              <a:rPr lang="en-US" sz="2000" b="1" dirty="0">
                <a:solidFill>
                  <a:schemeClr val="bg1"/>
                </a:solidFill>
                <a:ea typeface="Calibri" panose="020F0502020204030204" pitchFamily="34" charset="0"/>
              </a:rPr>
              <a:t>4. Digital displays: These screens provide passengers with important information, such as baggage allowance, airline-specific rules, and instructions for using the baggage drop-off system.</a:t>
            </a:r>
          </a:p>
          <a:p>
            <a:pPr algn="ctr">
              <a:lnSpc>
                <a:spcPct val="125000"/>
              </a:lnSpc>
            </a:pPr>
            <a:r>
              <a:rPr lang="en-US" sz="2000" b="1" dirty="0">
                <a:solidFill>
                  <a:schemeClr val="bg1"/>
                </a:solidFill>
                <a:ea typeface="Calibri" panose="020F0502020204030204" pitchFamily="34" charset="0"/>
              </a:rPr>
              <a:t>5. Assistance button or help desk: In case passengers cannot complete the baggage drop-off task, they should have access to assistance.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455795" y="490855"/>
            <a:ext cx="328041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dist"/>
            <a:r>
              <a:rPr lang="en-US" altLang="zh-CN" sz="2800" b="1" dirty="0">
                <a:latin typeface="Calibri" panose="020F0502020204030204" pitchFamily="34" charset="0"/>
                <a:ea typeface="Calibri" panose="020F0502020204030204" pitchFamily="34" charset="0"/>
                <a:sym typeface="黑体" panose="02010609060101010101" pitchFamily="49" charset="-122"/>
              </a:rPr>
              <a:t>Exercise 3</a:t>
            </a:r>
          </a:p>
        </p:txBody>
      </p:sp>
      <p:pic>
        <p:nvPicPr>
          <p:cNvPr id="3" name="图片 2"/>
          <p:cNvPicPr>
            <a:picLocks noChangeAspect="1"/>
          </p:cNvPicPr>
          <p:nvPr/>
        </p:nvPicPr>
        <p:blipFill>
          <a:blip r:embed="rId2"/>
          <a:stretch>
            <a:fillRect/>
          </a:stretch>
        </p:blipFill>
        <p:spPr>
          <a:xfrm>
            <a:off x="423571" y="1310499"/>
            <a:ext cx="11344859" cy="4644134"/>
          </a:xfrm>
          <a:prstGeom prst="rect">
            <a:avLst/>
          </a:prstGeom>
        </p:spPr>
      </p:pic>
      <p:sp>
        <p:nvSpPr>
          <p:cNvPr id="7" name="圆角矩形 6"/>
          <p:cNvSpPr/>
          <p:nvPr/>
        </p:nvSpPr>
        <p:spPr>
          <a:xfrm>
            <a:off x="423545" y="1310640"/>
            <a:ext cx="11345545" cy="4643755"/>
          </a:xfrm>
          <a:prstGeom prst="roundRect">
            <a:avLst>
              <a:gd name="adj" fmla="val 10785"/>
            </a:avLst>
          </a:prstGeom>
          <a:gradFill>
            <a:gsLst>
              <a:gs pos="0">
                <a:srgbClr val="A02A7D"/>
              </a:gs>
              <a:gs pos="41000">
                <a:srgbClr val="553058"/>
              </a:gs>
              <a:gs pos="83000">
                <a:srgbClr val="221B56"/>
              </a:gs>
              <a:gs pos="100000">
                <a:srgbClr val="221B56"/>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pitchFamily="34" charset="0"/>
            </a:endParaRPr>
          </a:p>
        </p:txBody>
      </p:sp>
      <p:sp>
        <p:nvSpPr>
          <p:cNvPr id="8" name="TextBox 15"/>
          <p:cNvSpPr txBox="1">
            <a:spLocks noChangeArrowheads="1"/>
          </p:cNvSpPr>
          <p:nvPr/>
        </p:nvSpPr>
        <p:spPr bwMode="auto">
          <a:xfrm>
            <a:off x="474980" y="1412875"/>
            <a:ext cx="11187430" cy="424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icrosoft YaHei" panose="020B0503020204020204" pitchFamily="34" charset="-122"/>
              </a:defRPr>
            </a:lvl1pPr>
            <a:lvl2pPr marL="742950" indent="-285750">
              <a:defRPr>
                <a:solidFill>
                  <a:schemeClr val="tx1"/>
                </a:solidFill>
                <a:latin typeface="Calibri" panose="020F0502020204030204" pitchFamily="34" charset="0"/>
                <a:ea typeface="Microsoft YaHei" panose="020B0503020204020204" pitchFamily="34" charset="-122"/>
              </a:defRPr>
            </a:lvl2pPr>
            <a:lvl3pPr marL="1143000" indent="-228600">
              <a:defRPr>
                <a:solidFill>
                  <a:schemeClr val="tx1"/>
                </a:solidFill>
                <a:latin typeface="Calibri" panose="020F0502020204030204" pitchFamily="34" charset="0"/>
                <a:ea typeface="Microsoft YaHei" panose="020B0503020204020204" pitchFamily="34" charset="-122"/>
              </a:defRPr>
            </a:lvl3pPr>
            <a:lvl4pPr marL="1600200" indent="-228600">
              <a:defRPr>
                <a:solidFill>
                  <a:schemeClr val="tx1"/>
                </a:solidFill>
                <a:latin typeface="Calibri" panose="020F0502020204030204" pitchFamily="34" charset="0"/>
                <a:ea typeface="Microsoft YaHei" panose="020B0503020204020204" pitchFamily="34" charset="-122"/>
              </a:defRPr>
            </a:lvl4pPr>
            <a:lvl5pPr marL="2057400" indent="-228600">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Microsoft YaHei" panose="020B0503020204020204" pitchFamily="34" charset="-122"/>
              </a:defRPr>
            </a:lvl9pPr>
          </a:lstStyle>
          <a:p>
            <a:pPr algn="ctr">
              <a:lnSpc>
                <a:spcPct val="125000"/>
              </a:lnSpc>
            </a:pPr>
            <a:r>
              <a:rPr lang="en-US" sz="2400" b="1" dirty="0">
                <a:solidFill>
                  <a:schemeClr val="bg1"/>
                </a:solidFill>
                <a:ea typeface="Calibri" panose="020F0502020204030204" pitchFamily="34" charset="0"/>
              </a:rPr>
              <a:t>Based on the results of Exercise 3, evaluate the correctness and the completeness of your requirements elicitation and your prototype, and consider the following two questions:</a:t>
            </a:r>
          </a:p>
          <a:p>
            <a:pPr algn="ctr">
              <a:lnSpc>
                <a:spcPct val="125000"/>
              </a:lnSpc>
            </a:pPr>
            <a:endParaRPr lang="en-US" sz="2400" b="1" dirty="0">
              <a:solidFill>
                <a:schemeClr val="bg1"/>
              </a:solidFill>
              <a:ea typeface="Calibri" panose="020F0502020204030204" pitchFamily="34" charset="0"/>
            </a:endParaRPr>
          </a:p>
          <a:p>
            <a:pPr algn="ctr">
              <a:lnSpc>
                <a:spcPct val="125000"/>
              </a:lnSpc>
            </a:pPr>
            <a:r>
              <a:rPr lang="en-US" sz="2400" b="1" dirty="0">
                <a:solidFill>
                  <a:schemeClr val="bg1"/>
                </a:solidFill>
                <a:ea typeface="Calibri" panose="020F0502020204030204" pitchFamily="34" charset="0"/>
              </a:rPr>
              <a:t>1)Do you identify all the possible requirements for the automatic baggage drop-off system?</a:t>
            </a:r>
          </a:p>
          <a:p>
            <a:pPr algn="ctr">
              <a:lnSpc>
                <a:spcPct val="125000"/>
              </a:lnSpc>
            </a:pPr>
            <a:endParaRPr lang="en-US" sz="2400" b="1" dirty="0">
              <a:solidFill>
                <a:schemeClr val="bg1"/>
              </a:solidFill>
              <a:ea typeface="Calibri" panose="020F0502020204030204" pitchFamily="34" charset="0"/>
            </a:endParaRPr>
          </a:p>
          <a:p>
            <a:pPr algn="ctr">
              <a:lnSpc>
                <a:spcPct val="125000"/>
              </a:lnSpc>
            </a:pPr>
            <a:r>
              <a:rPr lang="en-US" sz="2400" b="1" dirty="0">
                <a:solidFill>
                  <a:schemeClr val="bg1"/>
                </a:solidFill>
                <a:ea typeface="Calibri" panose="020F0502020204030204" pitchFamily="34" charset="0"/>
              </a:rPr>
              <a:t>2)Is your prototype able to handle all the identified requirements for the automatic baggage drop-off system?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文本框 8"/>
          <p:cNvSpPr txBox="1"/>
          <p:nvPr/>
        </p:nvSpPr>
        <p:spPr>
          <a:xfrm>
            <a:off x="7806519" y="4761954"/>
            <a:ext cx="3671248" cy="923330"/>
          </a:xfrm>
          <a:prstGeom prst="rect">
            <a:avLst/>
          </a:prstGeom>
          <a:noFill/>
        </p:spPr>
        <p:txBody>
          <a:bodyPr wrap="square" rtlCol="0">
            <a:spAutoFit/>
          </a:bodyPr>
          <a:lstStyle/>
          <a:p>
            <a:pPr algn="dist"/>
            <a:r>
              <a:rPr lang="en-US" altLang="zh-CN" sz="5400" b="1" dirty="0">
                <a:solidFill>
                  <a:schemeClr val="bg1"/>
                </a:solidFill>
                <a:latin typeface="Calibri" panose="020F0502020204030204" pitchFamily="34" charset="0"/>
                <a:ea typeface="Calibri" panose="020F0502020204030204" pitchFamily="34" charset="0"/>
              </a:rPr>
              <a:t>THANKS</a:t>
            </a:r>
            <a:endParaRPr lang="zh-CN" altLang="en-US" sz="5400" b="1" dirty="0">
              <a:solidFill>
                <a:schemeClr val="bg1"/>
              </a:solidFill>
              <a:latin typeface="Calibri" panose="020F0502020204030204" pitchFamily="34" charset="0"/>
              <a:ea typeface="Calibri" panose="020F050202020403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735</Words>
  <Application>Microsoft Office PowerPoint</Application>
  <PresentationFormat>Widescreen</PresentationFormat>
  <Paragraphs>53</Paragraphs>
  <Slides>10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Shixun Huang</cp:lastModifiedBy>
  <cp:revision>81</cp:revision>
  <dcterms:created xsi:type="dcterms:W3CDTF">2023-03-29T11:34:33Z</dcterms:created>
  <dcterms:modified xsi:type="dcterms:W3CDTF">2024-03-22T05:32:15Z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1033-4.9.0.7859</vt:lpwstr>
  </property>
  <property fmtid="{D5CDD505-2E9C-101B-9397-08002B2CF9AE}" pid="3" name="ICV">
    <vt:lpwstr>916455EA220045F0A9F2F90BB062BDD4</vt:lpwstr>
  </property>
</Properties>
</file>