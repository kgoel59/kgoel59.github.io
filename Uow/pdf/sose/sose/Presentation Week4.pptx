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87" r:id="rId3"/>
    <p:sldId id="304" r:id="rId4"/>
    <p:sldId id="313" r:id="rId5"/>
    <p:sldId id="314" r:id="rId6"/>
    <p:sldId id="289" r:id="rId7"/>
    <p:sldId id="305" r:id="rId8"/>
    <p:sldId id="315" r:id="rId9"/>
    <p:sldId id="316" r:id="rId10"/>
    <p:sldId id="280" r:id="rId11"/>
    <p:sldId id="290" r:id="rId12"/>
    <p:sldId id="317" r:id="rId13"/>
    <p:sldId id="318" r:id="rId14"/>
    <p:sldId id="319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B56"/>
    <a:srgbClr val="553058"/>
    <a:srgbClr val="A02A7D"/>
    <a:srgbClr val="362A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290D68-0559-4EC8-B112-8DCEAC62F527}" v="5" dt="2024-03-15T02:36:29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xun Huang" userId="5c4f4171-79f0-4b87-aa1d-c097d9ee5a38" providerId="ADAL" clId="{A1290D68-0559-4EC8-B112-8DCEAC62F527}"/>
    <pc:docChg chg="undo custSel delSld modSld">
      <pc:chgData name="Shixun Huang" userId="5c4f4171-79f0-4b87-aa1d-c097d9ee5a38" providerId="ADAL" clId="{A1290D68-0559-4EC8-B112-8DCEAC62F527}" dt="2024-03-19T02:41:47.156" v="231" actId="20577"/>
      <pc:docMkLst>
        <pc:docMk/>
      </pc:docMkLst>
      <pc:sldChg chg="del">
        <pc:chgData name="Shixun Huang" userId="5c4f4171-79f0-4b87-aa1d-c097d9ee5a38" providerId="ADAL" clId="{A1290D68-0559-4EC8-B112-8DCEAC62F527}" dt="2024-03-15T02:28:29.851" v="1" actId="2696"/>
        <pc:sldMkLst>
          <pc:docMk/>
          <pc:sldMk cId="0" sldId="257"/>
        </pc:sldMkLst>
      </pc:sldChg>
      <pc:sldChg chg="del">
        <pc:chgData name="Shixun Huang" userId="5c4f4171-79f0-4b87-aa1d-c097d9ee5a38" providerId="ADAL" clId="{A1290D68-0559-4EC8-B112-8DCEAC62F527}" dt="2024-03-15T02:28:29.851" v="1" actId="2696"/>
        <pc:sldMkLst>
          <pc:docMk/>
          <pc:sldMk cId="0" sldId="258"/>
        </pc:sldMkLst>
      </pc:sldChg>
      <pc:sldChg chg="del">
        <pc:chgData name="Shixun Huang" userId="5c4f4171-79f0-4b87-aa1d-c097d9ee5a38" providerId="ADAL" clId="{A1290D68-0559-4EC8-B112-8DCEAC62F527}" dt="2024-03-15T02:28:22.062" v="0" actId="2696"/>
        <pc:sldMkLst>
          <pc:docMk/>
          <pc:sldMk cId="0" sldId="259"/>
        </pc:sldMkLst>
      </pc:sldChg>
      <pc:sldChg chg="del">
        <pc:chgData name="Shixun Huang" userId="5c4f4171-79f0-4b87-aa1d-c097d9ee5a38" providerId="ADAL" clId="{A1290D68-0559-4EC8-B112-8DCEAC62F527}" dt="2024-03-15T02:28:22.062" v="0" actId="2696"/>
        <pc:sldMkLst>
          <pc:docMk/>
          <pc:sldMk cId="0" sldId="260"/>
        </pc:sldMkLst>
      </pc:sldChg>
      <pc:sldChg chg="del">
        <pc:chgData name="Shixun Huang" userId="5c4f4171-79f0-4b87-aa1d-c097d9ee5a38" providerId="ADAL" clId="{A1290D68-0559-4EC8-B112-8DCEAC62F527}" dt="2024-03-15T02:28:29.851" v="1" actId="2696"/>
        <pc:sldMkLst>
          <pc:docMk/>
          <pc:sldMk cId="0" sldId="262"/>
        </pc:sldMkLst>
      </pc:sldChg>
      <pc:sldChg chg="del">
        <pc:chgData name="Shixun Huang" userId="5c4f4171-79f0-4b87-aa1d-c097d9ee5a38" providerId="ADAL" clId="{A1290D68-0559-4EC8-B112-8DCEAC62F527}" dt="2024-03-15T02:28:22.062" v="0" actId="2696"/>
        <pc:sldMkLst>
          <pc:docMk/>
          <pc:sldMk cId="0" sldId="269"/>
        </pc:sldMkLst>
      </pc:sldChg>
      <pc:sldChg chg="del">
        <pc:chgData name="Shixun Huang" userId="5c4f4171-79f0-4b87-aa1d-c097d9ee5a38" providerId="ADAL" clId="{A1290D68-0559-4EC8-B112-8DCEAC62F527}" dt="2024-03-15T02:28:22.062" v="0" actId="2696"/>
        <pc:sldMkLst>
          <pc:docMk/>
          <pc:sldMk cId="0" sldId="272"/>
        </pc:sldMkLst>
      </pc:sldChg>
      <pc:sldChg chg="modSp mod">
        <pc:chgData name="Shixun Huang" userId="5c4f4171-79f0-4b87-aa1d-c097d9ee5a38" providerId="ADAL" clId="{A1290D68-0559-4EC8-B112-8DCEAC62F527}" dt="2024-03-19T02:40:26.476" v="207" actId="20577"/>
        <pc:sldMkLst>
          <pc:docMk/>
          <pc:sldMk cId="0" sldId="280"/>
        </pc:sldMkLst>
        <pc:spChg chg="mod">
          <ac:chgData name="Shixun Huang" userId="5c4f4171-79f0-4b87-aa1d-c097d9ee5a38" providerId="ADAL" clId="{A1290D68-0559-4EC8-B112-8DCEAC62F527}" dt="2024-03-19T02:40:26.476" v="207" actId="20577"/>
          <ac:spMkLst>
            <pc:docMk/>
            <pc:sldMk cId="0" sldId="280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A1290D68-0559-4EC8-B112-8DCEAC62F527}" dt="2024-03-15T02:31:01.118" v="82" actId="20577"/>
        <pc:sldMkLst>
          <pc:docMk/>
          <pc:sldMk cId="0" sldId="289"/>
        </pc:sldMkLst>
        <pc:spChg chg="mod">
          <ac:chgData name="Shixun Huang" userId="5c4f4171-79f0-4b87-aa1d-c097d9ee5a38" providerId="ADAL" clId="{A1290D68-0559-4EC8-B112-8DCEAC62F527}" dt="2024-03-15T02:31:01.118" v="82" actId="20577"/>
          <ac:spMkLst>
            <pc:docMk/>
            <pc:sldMk cId="0" sldId="289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A1290D68-0559-4EC8-B112-8DCEAC62F527}" dt="2024-03-15T02:28:49.032" v="21" actId="20577"/>
        <pc:sldMkLst>
          <pc:docMk/>
          <pc:sldMk cId="0" sldId="304"/>
        </pc:sldMkLst>
        <pc:spChg chg="mod">
          <ac:chgData name="Shixun Huang" userId="5c4f4171-79f0-4b87-aa1d-c097d9ee5a38" providerId="ADAL" clId="{A1290D68-0559-4EC8-B112-8DCEAC62F527}" dt="2024-03-15T02:28:49.032" v="21" actId="20577"/>
          <ac:spMkLst>
            <pc:docMk/>
            <pc:sldMk cId="0" sldId="304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A1290D68-0559-4EC8-B112-8DCEAC62F527}" dt="2024-03-15T02:29:06.644" v="41" actId="20577"/>
        <pc:sldMkLst>
          <pc:docMk/>
          <pc:sldMk cId="0" sldId="313"/>
        </pc:sldMkLst>
        <pc:spChg chg="mod">
          <ac:chgData name="Shixun Huang" userId="5c4f4171-79f0-4b87-aa1d-c097d9ee5a38" providerId="ADAL" clId="{A1290D68-0559-4EC8-B112-8DCEAC62F527}" dt="2024-03-15T02:29:06.644" v="41" actId="20577"/>
          <ac:spMkLst>
            <pc:docMk/>
            <pc:sldMk cId="0" sldId="313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A1290D68-0559-4EC8-B112-8DCEAC62F527}" dt="2024-03-15T02:29:46.673" v="69" actId="20577"/>
        <pc:sldMkLst>
          <pc:docMk/>
          <pc:sldMk cId="0" sldId="314"/>
        </pc:sldMkLst>
        <pc:spChg chg="mod">
          <ac:chgData name="Shixun Huang" userId="5c4f4171-79f0-4b87-aa1d-c097d9ee5a38" providerId="ADAL" clId="{A1290D68-0559-4EC8-B112-8DCEAC62F527}" dt="2024-03-15T02:29:46.673" v="69" actId="20577"/>
          <ac:spMkLst>
            <pc:docMk/>
            <pc:sldMk cId="0" sldId="314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A1290D68-0559-4EC8-B112-8DCEAC62F527}" dt="2024-03-19T02:41:47.156" v="231" actId="20577"/>
        <pc:sldMkLst>
          <pc:docMk/>
          <pc:sldMk cId="0" sldId="315"/>
        </pc:sldMkLst>
        <pc:spChg chg="mod">
          <ac:chgData name="Shixun Huang" userId="5c4f4171-79f0-4b87-aa1d-c097d9ee5a38" providerId="ADAL" clId="{A1290D68-0559-4EC8-B112-8DCEAC62F527}" dt="2024-03-19T02:41:47.156" v="231" actId="20577"/>
          <ac:spMkLst>
            <pc:docMk/>
            <pc:sldMk cId="0" sldId="315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A1290D68-0559-4EC8-B112-8DCEAC62F527}" dt="2024-03-15T02:32:42.176" v="132" actId="20577"/>
        <pc:sldMkLst>
          <pc:docMk/>
          <pc:sldMk cId="0" sldId="316"/>
        </pc:sldMkLst>
        <pc:spChg chg="mod">
          <ac:chgData name="Shixun Huang" userId="5c4f4171-79f0-4b87-aa1d-c097d9ee5a38" providerId="ADAL" clId="{A1290D68-0559-4EC8-B112-8DCEAC62F527}" dt="2024-03-15T02:32:21.522" v="97" actId="313"/>
          <ac:spMkLst>
            <pc:docMk/>
            <pc:sldMk cId="0" sldId="316"/>
            <ac:spMk id="2" creationId="{00000000-0000-0000-0000-000000000000}"/>
          </ac:spMkLst>
        </pc:spChg>
        <pc:spChg chg="mod">
          <ac:chgData name="Shixun Huang" userId="5c4f4171-79f0-4b87-aa1d-c097d9ee5a38" providerId="ADAL" clId="{A1290D68-0559-4EC8-B112-8DCEAC62F527}" dt="2024-03-15T02:32:42.176" v="132" actId="20577"/>
          <ac:spMkLst>
            <pc:docMk/>
            <pc:sldMk cId="0" sldId="316"/>
            <ac:spMk id="8" creationId="{00000000-0000-0000-0000-000000000000}"/>
          </ac:spMkLst>
        </pc:spChg>
      </pc:sldChg>
      <pc:sldChg chg="modSp mod">
        <pc:chgData name="Shixun Huang" userId="5c4f4171-79f0-4b87-aa1d-c097d9ee5a38" providerId="ADAL" clId="{A1290D68-0559-4EC8-B112-8DCEAC62F527}" dt="2024-03-19T02:40:44.546" v="218" actId="20577"/>
        <pc:sldMkLst>
          <pc:docMk/>
          <pc:sldMk cId="0" sldId="318"/>
        </pc:sldMkLst>
        <pc:spChg chg="mod">
          <ac:chgData name="Shixun Huang" userId="5c4f4171-79f0-4b87-aa1d-c097d9ee5a38" providerId="ADAL" clId="{A1290D68-0559-4EC8-B112-8DCEAC62F527}" dt="2024-03-19T02:40:44.546" v="218" actId="20577"/>
          <ac:spMkLst>
            <pc:docMk/>
            <pc:sldMk cId="0" sldId="318"/>
            <ac:spMk id="2" creationId="{00000000-0000-0000-0000-000000000000}"/>
          </ac:spMkLst>
        </pc:spChg>
        <pc:spChg chg="mod">
          <ac:chgData name="Shixun Huang" userId="5c4f4171-79f0-4b87-aa1d-c097d9ee5a38" providerId="ADAL" clId="{A1290D68-0559-4EC8-B112-8DCEAC62F527}" dt="2024-03-15T02:35:42.904" v="157" actId="20577"/>
          <ac:spMkLst>
            <pc:docMk/>
            <pc:sldMk cId="0" sldId="318"/>
            <ac:spMk id="8" creationId="{00000000-0000-0000-0000-000000000000}"/>
          </ac:spMkLst>
        </pc:spChg>
      </pc:sldChg>
      <pc:sldChg chg="addSp delSp modSp mod">
        <pc:chgData name="Shixun Huang" userId="5c4f4171-79f0-4b87-aa1d-c097d9ee5a38" providerId="ADAL" clId="{A1290D68-0559-4EC8-B112-8DCEAC62F527}" dt="2024-03-19T02:40:51.571" v="230" actId="20577"/>
        <pc:sldMkLst>
          <pc:docMk/>
          <pc:sldMk cId="0" sldId="319"/>
        </pc:sldMkLst>
        <pc:spChg chg="del">
          <ac:chgData name="Shixun Huang" userId="5c4f4171-79f0-4b87-aa1d-c097d9ee5a38" providerId="ADAL" clId="{A1290D68-0559-4EC8-B112-8DCEAC62F527}" dt="2024-03-15T02:36:29.532" v="187" actId="478"/>
          <ac:spMkLst>
            <pc:docMk/>
            <pc:sldMk cId="0" sldId="319"/>
            <ac:spMk id="2" creationId="{00000000-0000-0000-0000-000000000000}"/>
          </ac:spMkLst>
        </pc:spChg>
        <pc:spChg chg="add mod">
          <ac:chgData name="Shixun Huang" userId="5c4f4171-79f0-4b87-aa1d-c097d9ee5a38" providerId="ADAL" clId="{A1290D68-0559-4EC8-B112-8DCEAC62F527}" dt="2024-03-19T02:40:51.571" v="230" actId="20577"/>
          <ac:spMkLst>
            <pc:docMk/>
            <pc:sldMk cId="0" sldId="319"/>
            <ac:spMk id="4" creationId="{AE1C66BA-9838-36F5-AD35-A937FE1BEFE7}"/>
          </ac:spMkLst>
        </pc:spChg>
        <pc:spChg chg="mod">
          <ac:chgData name="Shixun Huang" userId="5c4f4171-79f0-4b87-aa1d-c097d9ee5a38" providerId="ADAL" clId="{A1290D68-0559-4EC8-B112-8DCEAC62F527}" dt="2024-03-15T02:35:54.273" v="160" actId="20577"/>
          <ac:spMkLst>
            <pc:docMk/>
            <pc:sldMk cId="0" sldId="319"/>
            <ac:spMk id="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Calibri" panose="020F050202020403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Calibri" panose="020F050202020403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Calibri" panose="020F050202020403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Calibri" panose="020F0502020204030204" pitchFamily="34" charset="0"/>
              </a:defRPr>
            </a:lvl1pPr>
          </a:lstStyle>
          <a:p>
            <a:fld id="{F4A4CFA3-DB98-45A2-AAE3-52D9BDB7DD8D}" type="datetimeFigureOut">
              <a:rPr lang="zh-CN" altLang="en-US" smtClean="0"/>
              <a:t>2024/3/19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Calibri" panose="020F050202020403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Calibri" panose="020F0502020204030204" pitchFamily="34" charset="0"/>
              </a:defRPr>
            </a:lvl1pPr>
          </a:lstStyle>
          <a:p>
            <a:fld id="{6874A263-F159-4676-87FC-72AFA819E2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Calibri" panose="020F050202020403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Calibri" panose="020F050202020403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84820" y="4749165"/>
            <a:ext cx="223202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Week4 Tutorial</a:t>
            </a:r>
            <a:r>
              <a:rPr lang="zh-CN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
</a:t>
            </a:r>
            <a:endParaRPr lang="zh-CN" altLang="en-US" sz="2000" dirty="0">
              <a:solidFill>
                <a:schemeClr val="bg1"/>
              </a:solidFill>
              <a:ea typeface="Calibri" panose="020F0502020204030204" pitchFamily="3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941772" y="4748978"/>
            <a:ext cx="2517508" cy="40011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62755" y="1703070"/>
            <a:ext cx="744791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CSCI910/410 </a:t>
            </a:r>
          </a:p>
          <a:p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Software Requirements, Specifications and Formal Methods 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461510" y="311150"/>
            <a:ext cx="29356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Exercise 1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833880" y="1863725"/>
            <a:ext cx="8190230" cy="372935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2105660" y="2228850"/>
            <a:ext cx="7647305" cy="239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Assuming you are required to design and implement a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baggage handling system for Sydney airport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, based on your knowledge, list some representative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 (1)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user requirements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(2) system requirements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, and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(3) software specifications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279265" y="306070"/>
            <a:ext cx="37979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sz="2800" b="1" dirty="0">
                <a:ea typeface="Calibri" panose="020F0502020204030204" pitchFamily="34" charset="0"/>
                <a:sym typeface="+mn-ea"/>
              </a:rPr>
              <a:t>User Requirements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sym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560" y="1122680"/>
            <a:ext cx="12228195" cy="500570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165225" y="1313815"/>
            <a:ext cx="10026015" cy="463994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2488565" y="1844675"/>
            <a:ext cx="7379335" cy="316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1. Baggage shall be transported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securely and efficiently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between check-in and the airplane.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2. Passengers shall be able to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track their baggage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at any point in the journey.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3. Baggage shall be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loaded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onto the correct airplane and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arrive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at the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correct destination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4. The system shall be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easy to use and understand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for passengers and airport staff.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077970" y="330835"/>
            <a:ext cx="4036695" cy="629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2800" b="1" dirty="0">
                <a:ea typeface="Calibri" panose="020F0502020204030204" pitchFamily="34" charset="0"/>
                <a:sym typeface="+mn-ea"/>
              </a:rPr>
              <a:t>System Requirements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sym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560" y="1122680"/>
            <a:ext cx="12228195" cy="500570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165225" y="1313815"/>
            <a:ext cx="10026015" cy="463994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2488565" y="1844675"/>
            <a:ext cx="7379335" cy="316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1. The baggage handling system shall be able to handle a high volume of baggage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efficiently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and with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minimal delays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2. The system shall be able to handle baggage of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various sizes and shapes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3. The system shall be able to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detect and handle any issues or problems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such as lost or damaged baggage.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4. The system shall be able to handle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international flights with different customs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and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security requirements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909695" y="330835"/>
            <a:ext cx="4536440" cy="629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2800" b="1" dirty="0">
                <a:ea typeface="Calibri" panose="020F0502020204030204" pitchFamily="34" charset="0"/>
                <a:sym typeface="+mn-ea"/>
              </a:rPr>
              <a:t>Software Requirements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sym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560" y="1122680"/>
            <a:ext cx="12228195" cy="500570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165225" y="1313815"/>
            <a:ext cx="10026015" cy="463994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1708150" y="1463675"/>
            <a:ext cx="8939530" cy="391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1. The software shall be able to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track and monitor the location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of each piece of baggage in real-time.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2. The software shall be able to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communicate with other airport systems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such as flight schedules and security systems, to ensure efficient and secure baggage handling.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3. The software shall be able to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generate reports and analytics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to help airport staff identify and address any issues or inefficiencies in the baggage handling system.</a:t>
            </a:r>
          </a:p>
          <a:p>
            <a:pPr algn="just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4. The software shall be able to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integrate with passenger-facing systems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such as mobile apps or kiosks, to provide real-time updates to passengers about the location of their baggage.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589780" y="320675"/>
            <a:ext cx="29641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Exercise 2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943100" y="1662430"/>
            <a:ext cx="8258175" cy="378650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2749550" y="2376170"/>
            <a:ext cx="6644640" cy="1904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Identify the possible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stakeholders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 of your baggage handling system and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five typical functional requirements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 and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“shall not” functional requirements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589780" y="320675"/>
            <a:ext cx="29641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Stakeholders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423545" y="1310640"/>
            <a:ext cx="11344275" cy="464375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821055" y="1652270"/>
            <a:ext cx="10501630" cy="355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Passengers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expect their baggage to be handled efficiently and safely.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Airline companies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want their passengers' baggage to be handled correctly and securely, without delays or damages.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Airport staff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will operate and maintain the baggage handling system and need it to be reliable and easy to use.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Airport management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need the baggage handling system to be efficient and cost-effective.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Government agencies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require the baggage handling system to comply with regulations related to safety, security, and customs.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630930" y="369570"/>
            <a:ext cx="48812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Functional Requirements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431165" y="1310640"/>
            <a:ext cx="11344275" cy="464375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845185" y="1855470"/>
            <a:ext cx="10501630" cy="2836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1.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Baggage routing and tracking</a:t>
            </a: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: The system must be able to track and route baggage through the airport, and provide real-time updates to passengers on the location of their baggage.</a:t>
            </a:r>
          </a:p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2.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Baggage screening</a:t>
            </a: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: The system must be able to screen baggage for security purposes, ensuring that only authorized items are allowed on the airplane.</a:t>
            </a:r>
          </a:p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3.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Baggage sorting</a:t>
            </a: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: The system must be able to sort baggage according to flight destination, ensuring that bags are loaded onto the correct airplane.</a:t>
            </a:r>
          </a:p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4.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Baggage storage</a:t>
            </a: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: The system must be able to store baggage temporarily in case of flight delays or </a:t>
            </a:r>
            <a:r>
              <a:rPr lang="en-US" b="1">
                <a:solidFill>
                  <a:schemeClr val="bg1"/>
                </a:solidFill>
                <a:ea typeface="Calibri" panose="020F0502020204030204" pitchFamily="34" charset="0"/>
              </a:rPr>
              <a:t>cancellations.</a:t>
            </a:r>
            <a:endParaRPr lang="en-US" b="1" dirty="0">
              <a:solidFill>
                <a:schemeClr val="bg1"/>
              </a:solidFill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945765" y="459740"/>
            <a:ext cx="6299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“Shall not</a:t>
            </a:r>
            <a:r>
              <a:rPr lang="zh-CN" altLang="en-US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”</a:t>
            </a:r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 Functional Requirements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423545" y="1310640"/>
            <a:ext cx="11344275" cy="464375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1532255" y="1825625"/>
            <a:ext cx="9125585" cy="249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1. The system shall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not mishandle or damage</a:t>
            </a: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 baggage.</a:t>
            </a:r>
          </a:p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2. The system </a:t>
            </a:r>
            <a:r>
              <a:rPr lang="en-US" altLang="zh-CN" b="1" dirty="0">
                <a:solidFill>
                  <a:schemeClr val="bg1"/>
                </a:solidFill>
                <a:ea typeface="Calibri" panose="020F0502020204030204" pitchFamily="34" charset="0"/>
              </a:rPr>
              <a:t>shall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not lose baggage or provide inaccurate information</a:t>
            </a: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 on baggage location and status.</a:t>
            </a:r>
          </a:p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3. The system shall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not be easily tampered with or compromised</a:t>
            </a: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,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allowing unauthorized access</a:t>
            </a: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 to baggage or sensitive information.</a:t>
            </a:r>
          </a:p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4. The system shall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not cause flight delays or cancellations</a:t>
            </a: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 due to baggage handling issues.</a:t>
            </a:r>
          </a:p>
          <a:p>
            <a:pPr algn="ctr">
              <a:lnSpc>
                <a:spcPct val="125000"/>
              </a:lnSpc>
            </a:pP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5. The system shall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not violate any safety or security regulations</a:t>
            </a:r>
            <a:r>
              <a:rPr lang="en-US" b="1" dirty="0">
                <a:solidFill>
                  <a:schemeClr val="bg1"/>
                </a:solidFill>
                <a:ea typeface="Calibri" panose="020F0502020204030204" pitchFamily="34" charset="0"/>
              </a:rPr>
              <a:t> related to baggage handling.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432300" y="311150"/>
            <a:ext cx="32804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Exercise 3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837690" y="1664970"/>
            <a:ext cx="8469630" cy="369379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2880360" y="2459990"/>
            <a:ext cx="6384290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Write a set of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non-functional requirements 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for the baggage handling system and list some of the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situations</a:t>
            </a:r>
            <a:r>
              <a:rPr lang="en-US" sz="2400" b="1" dirty="0">
                <a:solidFill>
                  <a:schemeClr val="bg1"/>
                </a:solidFill>
                <a:ea typeface="Calibri" panose="020F0502020204030204" pitchFamily="34" charset="0"/>
              </a:rPr>
              <a:t> to avoid, based on your non-functional requirements.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195195" y="401955"/>
            <a:ext cx="7802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Non-functional Requirements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423545" y="1310005"/>
            <a:ext cx="11344910" cy="464375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424180" y="1979295"/>
            <a:ext cx="11344275" cy="316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1. Performance: The system should be able to handle a high volume of baggage with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minimal delays or downtime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and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respond to user requests quickly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2. Reliability: The system should be able to operate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without failure or disruption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for extended periods, and have a low rate of errors or malfunctions.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3. Scalability: The system should be able to handle increases in baggage volume during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peak travel periods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without compromising performance or reliability.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4. Security: The system should be designed to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prevent unauthorized access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to baggage or sensitive information, and be able to detect and respond to security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194560" y="409575"/>
            <a:ext cx="7802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Non-functional Requirements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423545" y="1310005"/>
            <a:ext cx="11344910" cy="464375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1816100" y="2037080"/>
            <a:ext cx="9255760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5. Usability: The system should be designed to be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user-friendly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and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easy to learn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for both passengers and airport staff.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6. Maintainability: The system should be easy to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maintain and upgrade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with minimal downtime or impact on system performance.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7. Compatibility: The system should be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compatible with other airport systems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such as flight scheduling and security systems, to ensure efficient and secure baggage handling.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195197" y="519697"/>
            <a:ext cx="56647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Situations to avoid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423545" y="1310005"/>
            <a:ext cx="11344910" cy="464375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1627505" y="1844675"/>
            <a:ext cx="9255760" cy="316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1. Performance: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delays in baggage handling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missed flight connections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or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long wait times for passengers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2. Reliability: baggage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getting lost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damaged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or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not arriving on time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which could lead to passenger dissatisfaction.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3. Scalability: system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overload during peak travel periods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which could lead to system failure or performance degradation.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4. Security: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theft or tampering of baggage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which could compromise airport security and put passengers at risk.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1" y="1310499"/>
            <a:ext cx="11344859" cy="464413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423545" y="1310005"/>
            <a:ext cx="11344910" cy="4643755"/>
          </a:xfrm>
          <a:prstGeom prst="roundRect">
            <a:avLst>
              <a:gd name="adj" fmla="val 10785"/>
            </a:avLst>
          </a:prstGeom>
          <a:gradFill>
            <a:gsLst>
              <a:gs pos="0">
                <a:srgbClr val="A02A7D"/>
              </a:gs>
              <a:gs pos="41000">
                <a:srgbClr val="553058"/>
              </a:gs>
              <a:gs pos="83000">
                <a:srgbClr val="221B56"/>
              </a:gs>
              <a:gs pos="100000">
                <a:srgbClr val="221B56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pitchFamily="34" charset="0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1128395" y="2037080"/>
            <a:ext cx="10099040" cy="237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5. Usability: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confusion or errors in baggage handling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due to difficult-to-use systems, leading to lost or misdirected baggage.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6. Maintainability: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extended downtime or reduced system performance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 during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maintenance or upgrades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which could lead to delayed baggage handling and passenger inconvenience.</a:t>
            </a:r>
          </a:p>
          <a:p>
            <a:pPr algn="ctr">
              <a:lnSpc>
                <a:spcPct val="125000"/>
              </a:lnSpc>
            </a:pP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7. Compatibility: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system incompatibility with other airport systems</a:t>
            </a:r>
            <a:r>
              <a:rPr lang="en-US" sz="2000" b="1" dirty="0">
                <a:solidFill>
                  <a:schemeClr val="bg1"/>
                </a:solidFill>
                <a:ea typeface="Calibri" panose="020F0502020204030204" pitchFamily="34" charset="0"/>
              </a:rPr>
              <a:t>, leading to delays or errors in baggage handling.</a:t>
            </a:r>
          </a:p>
        </p:txBody>
      </p:sp>
      <p:sp>
        <p:nvSpPr>
          <p:cNvPr id="4" name="矩形 1">
            <a:extLst>
              <a:ext uri="{FF2B5EF4-FFF2-40B4-BE49-F238E27FC236}">
                <a16:creationId xmlns:a16="http://schemas.microsoft.com/office/drawing/2014/main" id="{AE1C66BA-9838-36F5-AD35-A937FE1BE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197" y="519697"/>
            <a:ext cx="56647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sym typeface="黑体" panose="02010609060101010101" pitchFamily="49" charset="-122"/>
              </a:rPr>
              <a:t>Situations to avoid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806519" y="4761954"/>
            <a:ext cx="3671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THANKS</a:t>
            </a:r>
            <a:endParaRPr lang="zh-CN" altLang="en-US" sz="5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1015</Words>
  <Application>Microsoft Office PowerPoint</Application>
  <PresentationFormat>Widescreen</PresentationFormat>
  <Paragraphs>60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Shixun Huang</cp:lastModifiedBy>
  <cp:revision>76</cp:revision>
  <dcterms:created xsi:type="dcterms:W3CDTF">2023-03-22T09:47:26Z</dcterms:created>
  <dcterms:modified xsi:type="dcterms:W3CDTF">2024-03-19T02:41:48Z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1033-4.9.0.7859</vt:lpwstr>
  </property>
  <property fmtid="{D5CDD505-2E9C-101B-9397-08002B2CF9AE}" pid="3" name="ICV">
    <vt:lpwstr>916455EA220045F0A9F2F90BB062BDD4</vt:lpwstr>
  </property>
</Properties>
</file>